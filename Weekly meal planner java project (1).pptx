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12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1F2D24">
              <a:alpha val="67843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352925" y="1789388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59637" y="0"/>
                </a:moveTo>
                <a:lnTo>
                  <a:pt x="378513" y="0"/>
                </a:lnTo>
                <a:quadBezTo>
                  <a:pt x="438150" y="0"/>
                  <a:pt x="438150" y="59637"/>
                </a:quadBezTo>
                <a:lnTo>
                  <a:pt x="438150" y="378513"/>
                </a:lnTo>
                <a:quadBezTo>
                  <a:pt x="438150" y="438150"/>
                  <a:pt x="378513" y="438150"/>
                </a:quadBezTo>
                <a:lnTo>
                  <a:pt x="59637" y="438150"/>
                </a:lnTo>
                <a:quadBezTo>
                  <a:pt x="0" y="438150"/>
                  <a:pt x="0" y="378513"/>
                </a:quadBezTo>
                <a:lnTo>
                  <a:pt x="0" y="59637"/>
                </a:lnTo>
                <a:quadBezTo>
                  <a:pt x="0" y="0"/>
                  <a:pt x="59637" y="0"/>
                </a:quadBezTo>
                <a:close/>
              </a:path>
            </a:pathLst>
          </a:custGeom>
          <a:solidFill>
            <a:srgbClr val="2E5E3A"/>
          </a:solidFill>
          <a:ln/>
          <a:effectLst>
            <a:outerShdw blurRad="133350" dist="57150" dir="2700000" algn="bl" rotWithShape="0">
              <a:srgbClr val="000000">
                <a:alpha val="18039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1894163"/>
            <a:ext cx="228600" cy="228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0547" y="2379074"/>
            <a:ext cx="7962900" cy="385763"/>
          </a:xfrm>
          <a:custGeom>
            <a:avLst/>
            <a:gdLst/>
            <a:ahLst/>
            <a:cxnLst/>
            <a:rect l="l" t="t" r="r" b="b"/>
            <a:pathLst>
              <a:path w="7962900" h="385763">
                <a:moveTo>
                  <a:pt x="0" y="0"/>
                </a:moveTo>
                <a:lnTo>
                  <a:pt x="7962900" y="0"/>
                </a:lnTo>
                <a:lnTo>
                  <a:pt x="796290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590547" y="2379074"/>
            <a:ext cx="79629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7391"/>
              </a:lnSpc>
              <a:spcBef>
                <a:spcPts val="281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Meal Planner &amp; Grocery List Generator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186113" y="2897087"/>
            <a:ext cx="2771775" cy="219075"/>
          </a:xfrm>
          <a:custGeom>
            <a:avLst/>
            <a:gdLst/>
            <a:ahLst/>
            <a:cxnLst/>
            <a:rect l="l" t="t" r="r" b="b"/>
            <a:pathLst>
              <a:path w="2771775" h="219075">
                <a:moveTo>
                  <a:pt x="0" y="0"/>
                </a:moveTo>
                <a:lnTo>
                  <a:pt x="2771775" y="0"/>
                </a:lnTo>
                <a:lnTo>
                  <a:pt x="2771775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3300412" y="3476612"/>
            <a:ext cx="27717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4348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EAF3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Console-Based Java Application</a:t>
            </a:r>
          </a:p>
          <a:p>
            <a:pPr marL="0" indent="0" algn="ctr">
              <a:lnSpc>
                <a:spcPct val="124348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EAF3E3"/>
                </a:solidFill>
                <a:latin typeface="Montserrat" pitchFamily="34" charset="0"/>
              </a:rPr>
              <a:t>G Sahasra(2620090001)</a:t>
            </a:r>
          </a:p>
          <a:p>
            <a:pPr marL="0" indent="0" algn="ctr">
              <a:lnSpc>
                <a:spcPct val="124348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EAF3E3"/>
                </a:solidFill>
                <a:latin typeface="Montserrat" pitchFamily="34" charset="0"/>
              </a:rPr>
              <a:t>SK Varsha(2620030008)</a:t>
            </a:r>
          </a:p>
        </p:txBody>
      </p:sp>
      <p:sp>
        <p:nvSpPr>
          <p:cNvPr id="11" name="Shape 7"/>
          <p:cNvSpPr/>
          <p:nvPr/>
        </p:nvSpPr>
        <p:spPr>
          <a:xfrm>
            <a:off x="4286250" y="3325476"/>
            <a:ext cx="571500" cy="28575"/>
          </a:xfrm>
          <a:custGeom>
            <a:avLst/>
            <a:gdLst/>
            <a:ahLst/>
            <a:cxnLst/>
            <a:rect l="l" t="t" r="r" b="b"/>
            <a:pathLst>
              <a:path w="571500" h="28575">
                <a:moveTo>
                  <a:pt x="25400" y="0"/>
                </a:moveTo>
                <a:lnTo>
                  <a:pt x="990600" y="0"/>
                </a:lnTo>
                <a:quadBezTo>
                  <a:pt x="1016000" y="0"/>
                  <a:pt x="1016000" y="25400"/>
                </a:quadBezTo>
                <a:lnTo>
                  <a:pt x="1016000" y="25400"/>
                </a:lnTo>
                <a:quadBezTo>
                  <a:pt x="1016000" y="50800"/>
                  <a:pt x="990600" y="50800"/>
                </a:quadBezTo>
                <a:lnTo>
                  <a:pt x="25400" y="50800"/>
                </a:lnTo>
                <a:quadBezTo>
                  <a:pt x="0" y="50800"/>
                  <a:pt x="0" y="25400"/>
                </a:quadBezTo>
                <a:lnTo>
                  <a:pt x="0" y="25400"/>
                </a:lnTo>
                <a:quadBezTo>
                  <a:pt x="0" y="0"/>
                  <a:pt x="25400" y="0"/>
                </a:quadBezTo>
                <a:close/>
              </a:path>
            </a:pathLst>
          </a:custGeom>
          <a:solidFill>
            <a:srgbClr val="E98B39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33400" y="418624"/>
            <a:ext cx="8077200" cy="138113"/>
          </a:xfrm>
          <a:custGeom>
            <a:avLst/>
            <a:gdLst/>
            <a:ahLst/>
            <a:cxnLst/>
            <a:rect l="l" t="t" r="r" b="b"/>
            <a:pathLst>
              <a:path w="8077200" h="138113">
                <a:moveTo>
                  <a:pt x="0" y="0"/>
                </a:moveTo>
                <a:lnTo>
                  <a:pt x="8077200" y="0"/>
                </a:lnTo>
                <a:lnTo>
                  <a:pt x="80772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33400" y="418624"/>
            <a:ext cx="80772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7A9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33400" y="631267"/>
            <a:ext cx="8077200" cy="742950"/>
          </a:xfrm>
          <a:custGeom>
            <a:avLst/>
            <a:gdLst/>
            <a:ahLst/>
            <a:cxnLst/>
            <a:rect l="l" t="t" r="r" b="b"/>
            <a:pathLst>
              <a:path w="8077200" h="742950">
                <a:moveTo>
                  <a:pt x="0" y="0"/>
                </a:moveTo>
                <a:lnTo>
                  <a:pt x="8077200" y="0"/>
                </a:lnTo>
                <a:lnTo>
                  <a:pt x="807720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33400" y="631267"/>
            <a:ext cx="8077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700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meal planning breaks down in the details.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3400" y="1488280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33400" y="1488280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routine is repetitive, easy to miss, and costly when ingredients do not line up.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3400" y="2528174"/>
            <a:ext cx="5257800" cy="2224088"/>
          </a:xfrm>
          <a:custGeom>
            <a:avLst/>
            <a:gdLst/>
            <a:ahLst/>
            <a:cxnLst/>
            <a:rect l="l" t="t" r="r" b="b"/>
            <a:pathLst>
              <a:path w="5257800" h="2224088">
                <a:moveTo>
                  <a:pt x="54824" y="0"/>
                </a:moveTo>
                <a:lnTo>
                  <a:pt x="5202976" y="0"/>
                </a:lnTo>
                <a:quadBezTo>
                  <a:pt x="5257800" y="0"/>
                  <a:pt x="5257800" y="54824"/>
                </a:quadBezTo>
                <a:lnTo>
                  <a:pt x="5257800" y="2169264"/>
                </a:lnTo>
                <a:quadBezTo>
                  <a:pt x="5257800" y="2224088"/>
                  <a:pt x="5202976" y="2224088"/>
                </a:quadBezTo>
                <a:lnTo>
                  <a:pt x="54824" y="2224088"/>
                </a:lnTo>
                <a:quadBezTo>
                  <a:pt x="0" y="2224088"/>
                  <a:pt x="0" y="2169264"/>
                </a:quadBezTo>
                <a:lnTo>
                  <a:pt x="0" y="54824"/>
                </a:lnTo>
                <a:quadBezTo>
                  <a:pt x="0" y="0"/>
                  <a:pt x="54824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09625" y="2903935"/>
            <a:ext cx="4705350" cy="161925"/>
          </a:xfrm>
          <a:custGeom>
            <a:avLst/>
            <a:gdLst/>
            <a:ahLst/>
            <a:cxnLst/>
            <a:rect l="l" t="t" r="r" b="b"/>
            <a:pathLst>
              <a:path w="4705350" h="161925">
                <a:moveTo>
                  <a:pt x="0" y="0"/>
                </a:moveTo>
                <a:lnTo>
                  <a:pt x="4705350" y="0"/>
                </a:lnTo>
                <a:lnTo>
                  <a:pt x="4705350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09625" y="2903935"/>
            <a:ext cx="4705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the friction shows up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09625" y="3226831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104775"/>
                </a:moveTo>
                <a:cubicBezTo>
                  <a:pt x="0" y="162641"/>
                  <a:pt x="46909" y="209550"/>
                  <a:pt x="104775" y="209550"/>
                </a:cubicBez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09625" y="3226831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133475" y="3227307"/>
            <a:ext cx="4381500" cy="404813"/>
          </a:xfrm>
          <a:custGeom>
            <a:avLst/>
            <a:gdLst/>
            <a:ahLst/>
            <a:cxnLst/>
            <a:rect l="l" t="t" r="r" b="b"/>
            <a:pathLst>
              <a:path w="4381500" h="404813">
                <a:moveTo>
                  <a:pt x="0" y="0"/>
                </a:moveTo>
                <a:lnTo>
                  <a:pt x="4381500" y="0"/>
                </a:lnTo>
                <a:lnTo>
                  <a:pt x="4381500" y="404813"/>
                </a:lnTo>
                <a:lnTo>
                  <a:pt x="0" y="4048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133475" y="3227307"/>
            <a:ext cx="438150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meals for a week is repetitive and easy to mess up.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09625" y="379452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104775"/>
                </a:moveTo>
                <a:cubicBezTo>
                  <a:pt x="0" y="162641"/>
                  <a:pt x="46909" y="209550"/>
                  <a:pt x="104775" y="209550"/>
                </a:cubicBez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09625" y="3794523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132671" y="3793569"/>
            <a:ext cx="3548062" cy="209550"/>
          </a:xfrm>
          <a:custGeom>
            <a:avLst/>
            <a:gdLst/>
            <a:ahLst/>
            <a:cxnLst/>
            <a:rect l="l" t="t" r="r" b="b"/>
            <a:pathLst>
              <a:path w="3548062" h="209550">
                <a:moveTo>
                  <a:pt x="0" y="0"/>
                </a:moveTo>
                <a:lnTo>
                  <a:pt x="3548062" y="0"/>
                </a:lnTo>
                <a:lnTo>
                  <a:pt x="3548062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1132671" y="3793569"/>
            <a:ext cx="35480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Ingredients are easy to forget while shopping.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9625" y="4165998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104775"/>
                </a:moveTo>
                <a:cubicBezTo>
                  <a:pt x="0" y="162641"/>
                  <a:pt x="46909" y="209550"/>
                  <a:pt x="104775" y="209550"/>
                </a:cubicBez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lose/>
              </a:path>
            </a:pathLst>
          </a:custGeom>
          <a:solidFill>
            <a:srgbClr val="FF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09625" y="4165998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E98B3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133475" y="4165044"/>
            <a:ext cx="3638550" cy="209550"/>
          </a:xfrm>
          <a:custGeom>
            <a:avLst/>
            <a:gdLst/>
            <a:ahLst/>
            <a:cxnLst/>
            <a:rect l="l" t="t" r="r" b="b"/>
            <a:pathLst>
              <a:path w="3638550" h="209550">
                <a:moveTo>
                  <a:pt x="0" y="0"/>
                </a:moveTo>
                <a:lnTo>
                  <a:pt x="3638550" y="0"/>
                </a:lnTo>
                <a:lnTo>
                  <a:pt x="3638550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1133475" y="4165044"/>
            <a:ext cx="3638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Combining ingredients across meals is tedious.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134100" y="2528174"/>
            <a:ext cx="2476500" cy="2224088"/>
          </a:xfrm>
          <a:custGeom>
            <a:avLst/>
            <a:gdLst/>
            <a:ahLst/>
            <a:cxnLst/>
            <a:rect l="l" t="t" r="r" b="b"/>
            <a:pathLst>
              <a:path w="2476500" h="2224088">
                <a:moveTo>
                  <a:pt x="54824" y="0"/>
                </a:moveTo>
                <a:lnTo>
                  <a:pt x="2421676" y="0"/>
                </a:lnTo>
                <a:quadBezTo>
                  <a:pt x="2476500" y="0"/>
                  <a:pt x="2476500" y="54824"/>
                </a:quadBezTo>
                <a:lnTo>
                  <a:pt x="2476500" y="2169264"/>
                </a:lnTo>
                <a:quadBezTo>
                  <a:pt x="2476500" y="2224088"/>
                  <a:pt x="2421676" y="2224088"/>
                </a:quadBezTo>
                <a:lnTo>
                  <a:pt x="54824" y="2224088"/>
                </a:lnTo>
                <a:quadBezTo>
                  <a:pt x="0" y="2224088"/>
                  <a:pt x="0" y="2169264"/>
                </a:quadBezTo>
                <a:lnTo>
                  <a:pt x="0" y="54824"/>
                </a:lnTo>
                <a:quadBezTo>
                  <a:pt x="0" y="0"/>
                  <a:pt x="54824" y="0"/>
                </a:quadBezTo>
                <a:close/>
              </a:path>
            </a:pathLst>
          </a:custGeom>
          <a:solidFill>
            <a:srgbClr val="2E5E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6343650" y="2756060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59637" y="0"/>
                </a:moveTo>
                <a:lnTo>
                  <a:pt x="378513" y="0"/>
                </a:lnTo>
                <a:quadBezTo>
                  <a:pt x="438150" y="0"/>
                  <a:pt x="438150" y="59637"/>
                </a:quadBezTo>
                <a:lnTo>
                  <a:pt x="438150" y="378513"/>
                </a:lnTo>
                <a:quadBezTo>
                  <a:pt x="438150" y="438150"/>
                  <a:pt x="378513" y="438150"/>
                </a:quadBezTo>
                <a:lnTo>
                  <a:pt x="59637" y="438150"/>
                </a:lnTo>
                <a:quadBezTo>
                  <a:pt x="0" y="438150"/>
                  <a:pt x="0" y="378513"/>
                </a:quadBezTo>
                <a:lnTo>
                  <a:pt x="0" y="59637"/>
                </a:lnTo>
                <a:quadBezTo>
                  <a:pt x="0" y="0"/>
                  <a:pt x="59637" y="0"/>
                </a:quadBezTo>
                <a:close/>
              </a:path>
            </a:pathLst>
          </a:custGeom>
          <a:solidFill>
            <a:srgbClr val="7A9B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860835"/>
            <a:ext cx="228600" cy="22860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6343650" y="3368754"/>
            <a:ext cx="2057400" cy="209550"/>
          </a:xfrm>
          <a:custGeom>
            <a:avLst/>
            <a:gdLst/>
            <a:ahLst/>
            <a:cxnLst/>
            <a:rect l="l" t="t" r="r" b="b"/>
            <a:pathLst>
              <a:path w="2057400" h="209550">
                <a:moveTo>
                  <a:pt x="0" y="0"/>
                </a:moveTo>
                <a:lnTo>
                  <a:pt x="2057400" y="0"/>
                </a:lnTo>
                <a:lnTo>
                  <a:pt x="2057400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6343650" y="3368754"/>
            <a:ext cx="2057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 misses add up.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343650" y="3673791"/>
            <a:ext cx="2057400" cy="538163"/>
          </a:xfrm>
          <a:custGeom>
            <a:avLst/>
            <a:gdLst/>
            <a:ahLst/>
            <a:cxnLst/>
            <a:rect l="l" t="t" r="r" b="b"/>
            <a:pathLst>
              <a:path w="2057400" h="538163">
                <a:moveTo>
                  <a:pt x="0" y="0"/>
                </a:moveTo>
                <a:lnTo>
                  <a:pt x="2057400" y="0"/>
                </a:lnTo>
                <a:lnTo>
                  <a:pt x="2057400" y="538163"/>
                </a:lnTo>
                <a:lnTo>
                  <a:pt x="0" y="538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6343650" y="3673791"/>
            <a:ext cx="2057400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EAF3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a clear plan, people overbuy, underbuy, or waste food.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343650" y="44324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E98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0"/>
          <p:cNvSpPr/>
          <p:nvPr/>
        </p:nvSpPr>
        <p:spPr>
          <a:xfrm>
            <a:off x="6448425" y="4388167"/>
            <a:ext cx="1824335" cy="129541"/>
          </a:xfrm>
          <a:custGeom>
            <a:avLst/>
            <a:gdLst/>
            <a:ahLst/>
            <a:cxnLst/>
            <a:rect l="l" t="t" r="r" b="b"/>
            <a:pathLst>
              <a:path w="1824335" h="129541">
                <a:moveTo>
                  <a:pt x="0" y="0"/>
                </a:moveTo>
                <a:lnTo>
                  <a:pt x="1824335" y="0"/>
                </a:lnTo>
                <a:lnTo>
                  <a:pt x="1824335" y="129541"/>
                </a:lnTo>
                <a:lnTo>
                  <a:pt x="0" y="12954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448425" y="4388167"/>
            <a:ext cx="1824335" cy="129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6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shopping list is the symptom.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38150" y="361474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38150" y="361474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7A9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50" y="576351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38150" y="576351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50" y="1002208"/>
            <a:ext cx="5048250" cy="409575"/>
          </a:xfrm>
          <a:custGeom>
            <a:avLst/>
            <a:gdLst/>
            <a:ahLst/>
            <a:cxnLst/>
            <a:rect l="l" t="t" r="r" b="b"/>
            <a:pathLst>
              <a:path w="5048250" h="409575">
                <a:moveTo>
                  <a:pt x="0" y="0"/>
                </a:moveTo>
                <a:lnTo>
                  <a:pt x="5048250" y="0"/>
                </a:lnTo>
                <a:lnTo>
                  <a:pt x="504825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38150" y="1002208"/>
            <a:ext cx="504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weekly meal planning into a simple, useful Java console experience.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7346" y="2022721"/>
            <a:ext cx="2624138" cy="2171700"/>
          </a:xfrm>
          <a:custGeom>
            <a:avLst/>
            <a:gdLst/>
            <a:ahLst/>
            <a:cxnLst/>
            <a:rect l="l" t="t" r="r" b="b"/>
            <a:pathLst>
              <a:path w="2624138" h="2171700">
                <a:moveTo>
                  <a:pt x="48125" y="0"/>
                </a:moveTo>
                <a:lnTo>
                  <a:pt x="2576013" y="0"/>
                </a:lnTo>
                <a:quadBezTo>
                  <a:pt x="2624138" y="0"/>
                  <a:pt x="2624138" y="48125"/>
                </a:quadBezTo>
                <a:lnTo>
                  <a:pt x="2624138" y="2123575"/>
                </a:lnTo>
                <a:quadBezTo>
                  <a:pt x="2624138" y="2171700"/>
                  <a:pt x="2576013" y="2171700"/>
                </a:quadBezTo>
                <a:lnTo>
                  <a:pt x="48125" y="2171700"/>
                </a:lnTo>
                <a:quadBezTo>
                  <a:pt x="0" y="2171700"/>
                  <a:pt x="0" y="2123575"/>
                </a:quadBezTo>
                <a:lnTo>
                  <a:pt x="0" y="48125"/>
                </a:lnTo>
                <a:quadBezTo>
                  <a:pt x="0" y="0"/>
                  <a:pt x="48125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33350" dist="57150" dir="2700000" algn="bl" rotWithShape="0">
              <a:srgbClr val="2E5E3A">
                <a:alpha val="7843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8175" y="222236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298560"/>
            <a:ext cx="1524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7371" y="2689323"/>
            <a:ext cx="2224088" cy="185738"/>
          </a:xfrm>
          <a:custGeom>
            <a:avLst/>
            <a:gdLst/>
            <a:ahLst/>
            <a:cxnLst/>
            <a:rect l="l" t="t" r="r" b="b"/>
            <a:pathLst>
              <a:path w="2224088" h="185738">
                <a:moveTo>
                  <a:pt x="0" y="0"/>
                </a:moveTo>
                <a:lnTo>
                  <a:pt x="2224088" y="0"/>
                </a:lnTo>
                <a:lnTo>
                  <a:pt x="2224088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637371" y="2689323"/>
            <a:ext cx="222408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the Week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37371" y="2960607"/>
            <a:ext cx="2224088" cy="352425"/>
          </a:xfrm>
          <a:custGeom>
            <a:avLst/>
            <a:gdLst/>
            <a:ahLst/>
            <a:cxnLst/>
            <a:rect l="l" t="t" r="r" b="b"/>
            <a:pathLst>
              <a:path w="2224088" h="352425">
                <a:moveTo>
                  <a:pt x="0" y="0"/>
                </a:moveTo>
                <a:lnTo>
                  <a:pt x="2224088" y="0"/>
                </a:lnTo>
                <a:lnTo>
                  <a:pt x="2224088" y="352425"/>
                </a:lnTo>
                <a:lnTo>
                  <a:pt x="0" y="3524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37371" y="2960607"/>
            <a:ext cx="222408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91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weekly meal planning faster, clearer, and easier to repeat.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37371" y="3654027"/>
            <a:ext cx="2224088" cy="142875"/>
          </a:xfrm>
          <a:custGeom>
            <a:avLst/>
            <a:gdLst/>
            <a:ahLst/>
            <a:cxnLst/>
            <a:rect l="l" t="t" r="r" b="b"/>
            <a:pathLst>
              <a:path w="2224088" h="142875">
                <a:moveTo>
                  <a:pt x="0" y="0"/>
                </a:moveTo>
                <a:lnTo>
                  <a:pt x="2224088" y="0"/>
                </a:lnTo>
                <a:lnTo>
                  <a:pt x="2224088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637371" y="3654027"/>
            <a:ext cx="22240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7A9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799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meals with less guesswork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37371" y="3871675"/>
            <a:ext cx="2224088" cy="142875"/>
          </a:xfrm>
          <a:custGeom>
            <a:avLst/>
            <a:gdLst/>
            <a:ahLst/>
            <a:cxnLst/>
            <a:rect l="l" t="t" r="r" b="b"/>
            <a:pathLst>
              <a:path w="2224088" h="142875">
                <a:moveTo>
                  <a:pt x="0" y="0"/>
                </a:moveTo>
                <a:lnTo>
                  <a:pt x="2224088" y="0"/>
                </a:lnTo>
                <a:lnTo>
                  <a:pt x="2224088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637371" y="3871675"/>
            <a:ext cx="22240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7A9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799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the routine organized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259899" y="2022721"/>
            <a:ext cx="2624138" cy="2171700"/>
          </a:xfrm>
          <a:custGeom>
            <a:avLst/>
            <a:gdLst/>
            <a:ahLst/>
            <a:cxnLst/>
            <a:rect l="l" t="t" r="r" b="b"/>
            <a:pathLst>
              <a:path w="2624138" h="2171700">
                <a:moveTo>
                  <a:pt x="48125" y="0"/>
                </a:moveTo>
                <a:lnTo>
                  <a:pt x="2576013" y="0"/>
                </a:lnTo>
                <a:quadBezTo>
                  <a:pt x="2624138" y="0"/>
                  <a:pt x="2624138" y="48125"/>
                </a:quadBezTo>
                <a:lnTo>
                  <a:pt x="2624138" y="2123575"/>
                </a:lnTo>
                <a:quadBezTo>
                  <a:pt x="2624138" y="2171700"/>
                  <a:pt x="2576013" y="2171700"/>
                </a:quadBezTo>
                <a:lnTo>
                  <a:pt x="48125" y="2171700"/>
                </a:lnTo>
                <a:quadBezTo>
                  <a:pt x="0" y="2171700"/>
                  <a:pt x="0" y="2123575"/>
                </a:quadBezTo>
                <a:lnTo>
                  <a:pt x="0" y="48125"/>
                </a:lnTo>
                <a:quadBezTo>
                  <a:pt x="0" y="0"/>
                  <a:pt x="48125" y="0"/>
                </a:quadBezTo>
                <a:close/>
              </a:path>
            </a:pathLst>
          </a:custGeom>
          <a:solidFill>
            <a:srgbClr val="2E5E3A"/>
          </a:solidFill>
          <a:ln/>
          <a:effectLst>
            <a:outerShdw blurRad="152400" dist="76200" dir="2700000" algn="bl" rotWithShape="0">
              <a:srgbClr val="2E5E3A">
                <a:alpha val="18039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3460728" y="222236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7A9B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928" y="2298560"/>
            <a:ext cx="152400" cy="1524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3459924" y="2689323"/>
            <a:ext cx="2224088" cy="185738"/>
          </a:xfrm>
          <a:custGeom>
            <a:avLst/>
            <a:gdLst/>
            <a:ahLst/>
            <a:cxnLst/>
            <a:rect l="l" t="t" r="r" b="b"/>
            <a:pathLst>
              <a:path w="2224088" h="185738">
                <a:moveTo>
                  <a:pt x="0" y="0"/>
                </a:moveTo>
                <a:lnTo>
                  <a:pt x="2224088" y="0"/>
                </a:lnTo>
                <a:lnTo>
                  <a:pt x="2224088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3459924" y="2689323"/>
            <a:ext cx="222408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 Groceries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459924" y="2960607"/>
            <a:ext cx="2224088" cy="352425"/>
          </a:xfrm>
          <a:custGeom>
            <a:avLst/>
            <a:gdLst/>
            <a:ahLst/>
            <a:cxnLst/>
            <a:rect l="l" t="t" r="r" b="b"/>
            <a:pathLst>
              <a:path w="2224088" h="352425">
                <a:moveTo>
                  <a:pt x="0" y="0"/>
                </a:moveTo>
                <a:lnTo>
                  <a:pt x="2224088" y="0"/>
                </a:lnTo>
                <a:lnTo>
                  <a:pt x="2224088" y="352425"/>
                </a:lnTo>
                <a:lnTo>
                  <a:pt x="0" y="3524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3459924" y="2960607"/>
            <a:ext cx="222408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91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 a grocery list directly from the meals already on the plan.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459924" y="3654027"/>
            <a:ext cx="2224088" cy="142875"/>
          </a:xfrm>
          <a:custGeom>
            <a:avLst/>
            <a:gdLst/>
            <a:ahLst/>
            <a:cxnLst/>
            <a:rect l="l" t="t" r="r" b="b"/>
            <a:pathLst>
              <a:path w="2224088" h="142875">
                <a:moveTo>
                  <a:pt x="0" y="0"/>
                </a:moveTo>
                <a:lnTo>
                  <a:pt x="2224088" y="0"/>
                </a:lnTo>
                <a:lnTo>
                  <a:pt x="2224088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/>
          <p:nvPr/>
        </p:nvSpPr>
        <p:spPr>
          <a:xfrm>
            <a:off x="3459924" y="3654027"/>
            <a:ext cx="22240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3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79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 ingredients automatically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459924" y="3871675"/>
            <a:ext cx="2224088" cy="142875"/>
          </a:xfrm>
          <a:custGeom>
            <a:avLst/>
            <a:gdLst/>
            <a:ahLst/>
            <a:cxnLst/>
            <a:rect l="l" t="t" r="r" b="b"/>
            <a:pathLst>
              <a:path w="2224088" h="142875">
                <a:moveTo>
                  <a:pt x="0" y="0"/>
                </a:moveTo>
                <a:lnTo>
                  <a:pt x="2224088" y="0"/>
                </a:lnTo>
                <a:lnTo>
                  <a:pt x="2224088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3459924" y="3871675"/>
            <a:ext cx="22240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3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79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Shop with a focused list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082458" y="2022721"/>
            <a:ext cx="2624138" cy="2171700"/>
          </a:xfrm>
          <a:custGeom>
            <a:avLst/>
            <a:gdLst/>
            <a:ahLst/>
            <a:cxnLst/>
            <a:rect l="l" t="t" r="r" b="b"/>
            <a:pathLst>
              <a:path w="2624138" h="2171700">
                <a:moveTo>
                  <a:pt x="48125" y="0"/>
                </a:moveTo>
                <a:lnTo>
                  <a:pt x="2576013" y="0"/>
                </a:lnTo>
                <a:quadBezTo>
                  <a:pt x="2624138" y="0"/>
                  <a:pt x="2624138" y="48125"/>
                </a:quadBezTo>
                <a:lnTo>
                  <a:pt x="2624138" y="2123575"/>
                </a:lnTo>
                <a:quadBezTo>
                  <a:pt x="2624138" y="2171700"/>
                  <a:pt x="2576013" y="2171700"/>
                </a:quadBezTo>
                <a:lnTo>
                  <a:pt x="48125" y="2171700"/>
                </a:lnTo>
                <a:quadBezTo>
                  <a:pt x="0" y="2171700"/>
                  <a:pt x="0" y="2123575"/>
                </a:quadBezTo>
                <a:lnTo>
                  <a:pt x="0" y="48125"/>
                </a:lnTo>
                <a:quadBezTo>
                  <a:pt x="0" y="0"/>
                  <a:pt x="48125" y="0"/>
                </a:quadBezTo>
                <a:close/>
              </a:path>
            </a:pathLst>
          </a:custGeom>
          <a:solidFill>
            <a:srgbClr val="FFF6EE"/>
          </a:solidFill>
          <a:ln/>
          <a:effectLst>
            <a:outerShdw blurRad="133350" dist="57150" dir="2700000" algn="bl" rotWithShape="0">
              <a:srgbClr val="2E5E3A">
                <a:alpha val="7843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9"/>
          <p:cNvSpPr/>
          <p:nvPr/>
        </p:nvSpPr>
        <p:spPr>
          <a:xfrm>
            <a:off x="6283286" y="222236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F4D4B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486" y="2298560"/>
            <a:ext cx="152400" cy="152400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282483" y="2689323"/>
            <a:ext cx="2224088" cy="185738"/>
          </a:xfrm>
          <a:custGeom>
            <a:avLst/>
            <a:gdLst/>
            <a:ahLst/>
            <a:cxnLst/>
            <a:rect l="l" t="t" r="r" b="b"/>
            <a:pathLst>
              <a:path w="2224088" h="185738">
                <a:moveTo>
                  <a:pt x="0" y="0"/>
                </a:moveTo>
                <a:lnTo>
                  <a:pt x="2224088" y="0"/>
                </a:lnTo>
                <a:lnTo>
                  <a:pt x="2224088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1"/>
          <p:cNvSpPr/>
          <p:nvPr/>
        </p:nvSpPr>
        <p:spPr>
          <a:xfrm>
            <a:off x="6282483" y="2689323"/>
            <a:ext cx="222408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by Building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6282483" y="2960399"/>
            <a:ext cx="2224088" cy="528638"/>
          </a:xfrm>
          <a:custGeom>
            <a:avLst/>
            <a:gdLst/>
            <a:ahLst/>
            <a:cxnLst/>
            <a:rect l="l" t="t" r="r" b="b"/>
            <a:pathLst>
              <a:path w="2224088" h="528638">
                <a:moveTo>
                  <a:pt x="0" y="0"/>
                </a:moveTo>
                <a:lnTo>
                  <a:pt x="2224088" y="0"/>
                </a:lnTo>
                <a:lnTo>
                  <a:pt x="2224088" y="528638"/>
                </a:lnTo>
                <a:lnTo>
                  <a:pt x="0" y="5286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3"/>
          <p:cNvSpPr/>
          <p:nvPr/>
        </p:nvSpPr>
        <p:spPr>
          <a:xfrm>
            <a:off x="6282483" y="2960399"/>
            <a:ext cx="2224088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91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 core Java concepts through a tool with a real everyday purpose.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282483" y="3654027"/>
            <a:ext cx="2224088" cy="142875"/>
          </a:xfrm>
          <a:custGeom>
            <a:avLst/>
            <a:gdLst/>
            <a:ahLst/>
            <a:cxnLst/>
            <a:rect l="l" t="t" r="r" b="b"/>
            <a:pathLst>
              <a:path w="2224088" h="142875">
                <a:moveTo>
                  <a:pt x="0" y="0"/>
                </a:moveTo>
                <a:lnTo>
                  <a:pt x="2224088" y="0"/>
                </a:lnTo>
                <a:lnTo>
                  <a:pt x="2224088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5"/>
          <p:cNvSpPr/>
          <p:nvPr/>
        </p:nvSpPr>
        <p:spPr>
          <a:xfrm>
            <a:off x="6282483" y="3654027"/>
            <a:ext cx="22240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98B3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799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OOP, collections, and loops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6282483" y="3871675"/>
            <a:ext cx="2224088" cy="142875"/>
          </a:xfrm>
          <a:custGeom>
            <a:avLst/>
            <a:gdLst/>
            <a:ahLst/>
            <a:cxnLst/>
            <a:rect l="l" t="t" r="r" b="b"/>
            <a:pathLst>
              <a:path w="2224088" h="142875">
                <a:moveTo>
                  <a:pt x="0" y="0"/>
                </a:moveTo>
                <a:lnTo>
                  <a:pt x="2224088" y="0"/>
                </a:lnTo>
                <a:lnTo>
                  <a:pt x="2224088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7"/>
          <p:cNvSpPr/>
          <p:nvPr/>
        </p:nvSpPr>
        <p:spPr>
          <a:xfrm>
            <a:off x="6282483" y="3871675"/>
            <a:ext cx="22240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98B3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799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I/O in a complete workflow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438150" y="4414360"/>
            <a:ext cx="8267700" cy="404813"/>
          </a:xfrm>
          <a:custGeom>
            <a:avLst/>
            <a:gdLst/>
            <a:ahLst/>
            <a:cxnLst/>
            <a:rect l="l" t="t" r="r" b="b"/>
            <a:pathLst>
              <a:path w="8267700" h="404813">
                <a:moveTo>
                  <a:pt x="48407" y="0"/>
                </a:moveTo>
                <a:lnTo>
                  <a:pt x="8219293" y="0"/>
                </a:lnTo>
                <a:quadBezTo>
                  <a:pt x="8267700" y="0"/>
                  <a:pt x="8267700" y="48407"/>
                </a:quadBezTo>
                <a:lnTo>
                  <a:pt x="8267700" y="356405"/>
                </a:lnTo>
                <a:quadBezTo>
                  <a:pt x="8267700" y="404813"/>
                  <a:pt x="8219293" y="404813"/>
                </a:quadBezTo>
                <a:lnTo>
                  <a:pt x="48407" y="404813"/>
                </a:lnTo>
                <a:quadBezTo>
                  <a:pt x="0" y="404813"/>
                  <a:pt x="0" y="356405"/>
                </a:quadBezTo>
                <a:lnTo>
                  <a:pt x="0" y="48407"/>
                </a:lnTo>
                <a:quadBezTo>
                  <a:pt x="0" y="0"/>
                  <a:pt x="48407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4545330"/>
            <a:ext cx="142875" cy="142875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542225" y="4587508"/>
            <a:ext cx="533400" cy="147637"/>
          </a:xfrm>
          <a:custGeom>
            <a:avLst/>
            <a:gdLst/>
            <a:ahLst/>
            <a:cxnLst/>
            <a:rect l="l" t="t" r="r" b="b"/>
            <a:pathLst>
              <a:path w="533400" h="147637">
                <a:moveTo>
                  <a:pt x="0" y="0"/>
                </a:moveTo>
                <a:lnTo>
                  <a:pt x="533400" y="0"/>
                </a:lnTo>
                <a:lnTo>
                  <a:pt x="53340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0"/>
          <p:cNvSpPr/>
          <p:nvPr/>
        </p:nvSpPr>
        <p:spPr>
          <a:xfrm>
            <a:off x="866775" y="4465319"/>
            <a:ext cx="5334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goal: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1484024" y="4542947"/>
            <a:ext cx="3652838" cy="147637"/>
          </a:xfrm>
          <a:custGeom>
            <a:avLst/>
            <a:gdLst/>
            <a:ahLst/>
            <a:cxnLst/>
            <a:rect l="l" t="t" r="r" b="b"/>
            <a:pathLst>
              <a:path w="3652838" h="147637">
                <a:moveTo>
                  <a:pt x="0" y="0"/>
                </a:moveTo>
                <a:lnTo>
                  <a:pt x="3652838" y="0"/>
                </a:lnTo>
                <a:lnTo>
                  <a:pt x="365283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2"/>
          <p:cNvSpPr/>
          <p:nvPr/>
        </p:nvSpPr>
        <p:spPr>
          <a:xfrm>
            <a:off x="1484024" y="4542947"/>
            <a:ext cx="365283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small console tool that genuinely makes meal planning easier.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7602049" y="4554854"/>
            <a:ext cx="923925" cy="123825"/>
          </a:xfrm>
          <a:custGeom>
            <a:avLst/>
            <a:gdLst/>
            <a:ahLst/>
            <a:cxnLst/>
            <a:rect l="l" t="t" r="r" b="b"/>
            <a:pathLst>
              <a:path w="923925" h="123825">
                <a:moveTo>
                  <a:pt x="0" y="0"/>
                </a:moveTo>
                <a:lnTo>
                  <a:pt x="923925" y="0"/>
                </a:lnTo>
                <a:lnTo>
                  <a:pt x="92392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4"/>
          <p:cNvSpPr/>
          <p:nvPr/>
        </p:nvSpPr>
        <p:spPr>
          <a:xfrm>
            <a:off x="7602049" y="4554854"/>
            <a:ext cx="9239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75149" y="418624"/>
            <a:ext cx="1104900" cy="138113"/>
          </a:xfrm>
          <a:custGeom>
            <a:avLst/>
            <a:gdLst/>
            <a:ahLst/>
            <a:cxnLst/>
            <a:rect l="l" t="t" r="r" b="b"/>
            <a:pathLst>
              <a:path w="1104900" h="138113">
                <a:moveTo>
                  <a:pt x="0" y="0"/>
                </a:moveTo>
                <a:lnTo>
                  <a:pt x="1104900" y="0"/>
                </a:lnTo>
                <a:lnTo>
                  <a:pt x="11049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75149" y="418624"/>
            <a:ext cx="11049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7A9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MEAL PLANNER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7351" y="633501"/>
            <a:ext cx="2095500" cy="347663"/>
          </a:xfrm>
          <a:custGeom>
            <a:avLst/>
            <a:gdLst/>
            <a:ahLst/>
            <a:cxnLst/>
            <a:rect l="l" t="t" r="r" b="b"/>
            <a:pathLst>
              <a:path w="2095500" h="347663">
                <a:moveTo>
                  <a:pt x="0" y="0"/>
                </a:moveTo>
                <a:lnTo>
                  <a:pt x="2095500" y="0"/>
                </a:lnTo>
                <a:lnTo>
                  <a:pt x="20955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77351" y="633501"/>
            <a:ext cx="20955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6755" y="1058882"/>
            <a:ext cx="4991100" cy="204787"/>
          </a:xfrm>
          <a:custGeom>
            <a:avLst/>
            <a:gdLst/>
            <a:ahLst/>
            <a:cxnLst/>
            <a:rect l="l" t="t" r="r" b="b"/>
            <a:pathLst>
              <a:path w="4991100" h="204787">
                <a:moveTo>
                  <a:pt x="0" y="0"/>
                </a:moveTo>
                <a:lnTo>
                  <a:pt x="4991100" y="0"/>
                </a:lnTo>
                <a:lnTo>
                  <a:pt x="4991100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75149" y="1320818"/>
            <a:ext cx="499110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Everything you need to turn weekly meals into an organized plan.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6250" y="1872704"/>
            <a:ext cx="2590800" cy="2909888"/>
          </a:xfrm>
          <a:custGeom>
            <a:avLst/>
            <a:gdLst/>
            <a:ahLst/>
            <a:cxnLst/>
            <a:rect l="l" t="t" r="r" b="b"/>
            <a:pathLst>
              <a:path w="2590800" h="2909888">
                <a:moveTo>
                  <a:pt x="47075" y="0"/>
                </a:moveTo>
                <a:lnTo>
                  <a:pt x="2543725" y="0"/>
                </a:lnTo>
                <a:quadBezTo>
                  <a:pt x="2590800" y="0"/>
                  <a:pt x="2590800" y="47075"/>
                </a:quadBezTo>
                <a:lnTo>
                  <a:pt x="2590800" y="2862813"/>
                </a:lnTo>
                <a:quadBezTo>
                  <a:pt x="2590800" y="2909888"/>
                  <a:pt x="2543725" y="2909888"/>
                </a:quadBezTo>
                <a:lnTo>
                  <a:pt x="47075" y="2909888"/>
                </a:lnTo>
                <a:quadBezTo>
                  <a:pt x="0" y="2909888"/>
                  <a:pt x="0" y="2862813"/>
                </a:quadBezTo>
                <a:lnTo>
                  <a:pt x="0" y="47075"/>
                </a:lnTo>
                <a:quadBezTo>
                  <a:pt x="0" y="0"/>
                  <a:pt x="47075" y="0"/>
                </a:quadBezTo>
                <a:close/>
              </a:path>
            </a:pathLst>
          </a:custGeom>
          <a:solidFill>
            <a:srgbClr val="FFFFFF"/>
          </a:solidFill>
          <a:ln w="3786">
            <a:solidFill>
              <a:srgbClr val="E3EBDD"/>
            </a:solidFill>
            <a:prstDash val="solid"/>
          </a:ln>
          <a:effectLst>
            <a:outerShdw blurRad="180975" dist="85725" dir="2700000" algn="bl" rotWithShape="0">
              <a:srgbClr val="2E5E3A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89609" y="210615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66175" y="0"/>
                </a:moveTo>
                <a:lnTo>
                  <a:pt x="295775" y="0"/>
                </a:lnTo>
                <a:quadBezTo>
                  <a:pt x="361950" y="0"/>
                  <a:pt x="361950" y="66175"/>
                </a:quadBezTo>
                <a:lnTo>
                  <a:pt x="361950" y="295775"/>
                </a:lnTo>
                <a:quadBezTo>
                  <a:pt x="361950" y="361950"/>
                  <a:pt x="295775" y="361950"/>
                </a:quadBezTo>
                <a:lnTo>
                  <a:pt x="66175" y="361950"/>
                </a:lnTo>
                <a:quadBezTo>
                  <a:pt x="0" y="361950"/>
                  <a:pt x="0" y="295775"/>
                </a:quadBezTo>
                <a:lnTo>
                  <a:pt x="0" y="66175"/>
                </a:lnTo>
                <a:quadBezTo>
                  <a:pt x="0" y="0"/>
                  <a:pt x="66175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97" y="2196643"/>
            <a:ext cx="180975" cy="1809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90562" y="2592883"/>
            <a:ext cx="2162175" cy="195263"/>
          </a:xfrm>
          <a:custGeom>
            <a:avLst/>
            <a:gdLst/>
            <a:ahLst/>
            <a:cxnLst/>
            <a:rect l="l" t="t" r="r" b="b"/>
            <a:pathLst>
              <a:path w="2162175" h="195263">
                <a:moveTo>
                  <a:pt x="0" y="0"/>
                </a:moveTo>
                <a:lnTo>
                  <a:pt x="2162175" y="0"/>
                </a:lnTo>
                <a:lnTo>
                  <a:pt x="2162175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690562" y="2592883"/>
            <a:ext cx="21621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your week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90562" y="2845295"/>
            <a:ext cx="2162175" cy="361950"/>
          </a:xfrm>
          <a:custGeom>
            <a:avLst/>
            <a:gdLst/>
            <a:ahLst/>
            <a:cxnLst/>
            <a:rect l="l" t="t" r="r" b="b"/>
            <a:pathLst>
              <a:path w="2162175" h="361950">
                <a:moveTo>
                  <a:pt x="0" y="0"/>
                </a:moveTo>
                <a:lnTo>
                  <a:pt x="2162175" y="0"/>
                </a:lnTo>
                <a:lnTo>
                  <a:pt x="2162175" y="361950"/>
                </a:lnTo>
                <a:lnTo>
                  <a:pt x="0" y="3619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90562" y="2845295"/>
            <a:ext cx="21621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meals and ingredients for every day.</a:t>
            </a:r>
            <a:endParaRPr lang="en-US" sz="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09" y="4443889"/>
            <a:ext cx="119062" cy="11906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64810" y="4429601"/>
            <a:ext cx="1385888" cy="147637"/>
          </a:xfrm>
          <a:custGeom>
            <a:avLst/>
            <a:gdLst/>
            <a:ahLst/>
            <a:cxnLst/>
            <a:rect l="l" t="t" r="r" b="b"/>
            <a:pathLst>
              <a:path w="1385888" h="147637">
                <a:moveTo>
                  <a:pt x="0" y="0"/>
                </a:moveTo>
                <a:lnTo>
                  <a:pt x="1385888" y="0"/>
                </a:lnTo>
                <a:lnTo>
                  <a:pt x="138588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864810" y="4429601"/>
            <a:ext cx="138588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 or remove anytime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276600" y="1872704"/>
            <a:ext cx="2590800" cy="2909888"/>
          </a:xfrm>
          <a:custGeom>
            <a:avLst/>
            <a:gdLst/>
            <a:ahLst/>
            <a:cxnLst/>
            <a:rect l="l" t="t" r="r" b="b"/>
            <a:pathLst>
              <a:path w="2590800" h="2909888">
                <a:moveTo>
                  <a:pt x="47075" y="0"/>
                </a:moveTo>
                <a:lnTo>
                  <a:pt x="2543725" y="0"/>
                </a:lnTo>
                <a:quadBezTo>
                  <a:pt x="2590800" y="0"/>
                  <a:pt x="2590800" y="47075"/>
                </a:quadBezTo>
                <a:lnTo>
                  <a:pt x="2590800" y="2862813"/>
                </a:lnTo>
                <a:quadBezTo>
                  <a:pt x="2590800" y="2909888"/>
                  <a:pt x="2543725" y="2909888"/>
                </a:quadBezTo>
                <a:lnTo>
                  <a:pt x="47075" y="2909888"/>
                </a:lnTo>
                <a:quadBezTo>
                  <a:pt x="0" y="2909888"/>
                  <a:pt x="0" y="2862813"/>
                </a:quadBezTo>
                <a:lnTo>
                  <a:pt x="0" y="47075"/>
                </a:lnTo>
                <a:quadBezTo>
                  <a:pt x="0" y="0"/>
                  <a:pt x="47075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3486150" y="2102347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66175" y="0"/>
                </a:moveTo>
                <a:lnTo>
                  <a:pt x="295775" y="0"/>
                </a:lnTo>
                <a:quadBezTo>
                  <a:pt x="361950" y="0"/>
                  <a:pt x="361950" y="66175"/>
                </a:quadBezTo>
                <a:lnTo>
                  <a:pt x="361950" y="295775"/>
                </a:lnTo>
                <a:quadBezTo>
                  <a:pt x="361950" y="361950"/>
                  <a:pt x="295775" y="361950"/>
                </a:quadBezTo>
                <a:lnTo>
                  <a:pt x="66175" y="361950"/>
                </a:lnTo>
                <a:quadBezTo>
                  <a:pt x="0" y="361950"/>
                  <a:pt x="0" y="295775"/>
                </a:quadBezTo>
                <a:lnTo>
                  <a:pt x="0" y="66175"/>
                </a:lnTo>
                <a:quadBezTo>
                  <a:pt x="0" y="0"/>
                  <a:pt x="66175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637" y="2192834"/>
            <a:ext cx="180975" cy="18097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486150" y="2589074"/>
            <a:ext cx="2171700" cy="195263"/>
          </a:xfrm>
          <a:custGeom>
            <a:avLst/>
            <a:gdLst/>
            <a:ahLst/>
            <a:cxnLst/>
            <a:rect l="l" t="t" r="r" b="b"/>
            <a:pathLst>
              <a:path w="2171700" h="195263">
                <a:moveTo>
                  <a:pt x="0" y="0"/>
                </a:moveTo>
                <a:lnTo>
                  <a:pt x="2171700" y="0"/>
                </a:lnTo>
                <a:lnTo>
                  <a:pt x="21717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3486150" y="2589074"/>
            <a:ext cx="21717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the full plan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486150" y="2841487"/>
            <a:ext cx="2171700" cy="361950"/>
          </a:xfrm>
          <a:custGeom>
            <a:avLst/>
            <a:gdLst/>
            <a:ahLst/>
            <a:cxnLst/>
            <a:rect l="l" t="t" r="r" b="b"/>
            <a:pathLst>
              <a:path w="2171700" h="361950">
                <a:moveTo>
                  <a:pt x="0" y="0"/>
                </a:moveTo>
                <a:lnTo>
                  <a:pt x="2171700" y="0"/>
                </a:lnTo>
                <a:lnTo>
                  <a:pt x="2171700" y="361950"/>
                </a:lnTo>
                <a:lnTo>
                  <a:pt x="0" y="3619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3486150" y="2841487"/>
            <a:ext cx="2171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View every meal in one clear weekly layout.</a:t>
            </a:r>
            <a:endParaRPr lang="en-US" sz="9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6150" y="4447697"/>
            <a:ext cx="119062" cy="11906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3663523" y="4433410"/>
            <a:ext cx="1566862" cy="147637"/>
          </a:xfrm>
          <a:custGeom>
            <a:avLst/>
            <a:gdLst/>
            <a:ahLst/>
            <a:cxnLst/>
            <a:rect l="l" t="t" r="r" b="b"/>
            <a:pathLst>
              <a:path w="1566862" h="147637">
                <a:moveTo>
                  <a:pt x="0" y="0"/>
                </a:moveTo>
                <a:lnTo>
                  <a:pt x="1566862" y="0"/>
                </a:lnTo>
                <a:lnTo>
                  <a:pt x="1566862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3663523" y="4433410"/>
            <a:ext cx="1566862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 what is coming next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076950" y="1872704"/>
            <a:ext cx="2590800" cy="2909888"/>
          </a:xfrm>
          <a:custGeom>
            <a:avLst/>
            <a:gdLst/>
            <a:ahLst/>
            <a:cxnLst/>
            <a:rect l="l" t="t" r="r" b="b"/>
            <a:pathLst>
              <a:path w="2590800" h="2909888">
                <a:moveTo>
                  <a:pt x="47075" y="0"/>
                </a:moveTo>
                <a:lnTo>
                  <a:pt x="2543725" y="0"/>
                </a:lnTo>
                <a:quadBezTo>
                  <a:pt x="2590800" y="0"/>
                  <a:pt x="2590800" y="47075"/>
                </a:quadBezTo>
                <a:lnTo>
                  <a:pt x="2590800" y="2862813"/>
                </a:lnTo>
                <a:quadBezTo>
                  <a:pt x="2590800" y="2909888"/>
                  <a:pt x="2543725" y="2909888"/>
                </a:quadBezTo>
                <a:lnTo>
                  <a:pt x="47075" y="2909888"/>
                </a:lnTo>
                <a:quadBezTo>
                  <a:pt x="0" y="2909888"/>
                  <a:pt x="0" y="2862813"/>
                </a:quadBezTo>
                <a:lnTo>
                  <a:pt x="0" y="47075"/>
                </a:lnTo>
                <a:quadBezTo>
                  <a:pt x="0" y="0"/>
                  <a:pt x="47075" y="0"/>
                </a:quadBezTo>
                <a:close/>
              </a:path>
            </a:pathLst>
          </a:custGeom>
          <a:solidFill>
            <a:srgbClr val="FFF6EE"/>
          </a:solidFill>
          <a:ln w="3786">
            <a:solidFill>
              <a:srgbClr val="F3DEC9"/>
            </a:solidFill>
            <a:prstDash val="solid"/>
          </a:ln>
          <a:effectLst>
            <a:outerShdw blurRad="180975" dist="85725" dir="2700000" algn="bl" rotWithShape="0">
              <a:srgbClr val="E98B39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290309" y="210615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66175" y="0"/>
                </a:moveTo>
                <a:lnTo>
                  <a:pt x="295775" y="0"/>
                </a:lnTo>
                <a:quadBezTo>
                  <a:pt x="361950" y="0"/>
                  <a:pt x="361950" y="66175"/>
                </a:quadBezTo>
                <a:lnTo>
                  <a:pt x="361950" y="295775"/>
                </a:lnTo>
                <a:quadBezTo>
                  <a:pt x="361950" y="361950"/>
                  <a:pt x="295775" y="361950"/>
                </a:quadBezTo>
                <a:lnTo>
                  <a:pt x="66175" y="361950"/>
                </a:lnTo>
                <a:quadBezTo>
                  <a:pt x="0" y="361950"/>
                  <a:pt x="0" y="295775"/>
                </a:quadBezTo>
                <a:lnTo>
                  <a:pt x="0" y="66175"/>
                </a:lnTo>
                <a:quadBezTo>
                  <a:pt x="0" y="0"/>
                  <a:pt x="66175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0797" y="2196643"/>
            <a:ext cx="180975" cy="180975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291263" y="2592883"/>
            <a:ext cx="2162175" cy="195263"/>
          </a:xfrm>
          <a:custGeom>
            <a:avLst/>
            <a:gdLst/>
            <a:ahLst/>
            <a:cxnLst/>
            <a:rect l="l" t="t" r="r" b="b"/>
            <a:pathLst>
              <a:path w="2162175" h="195263">
                <a:moveTo>
                  <a:pt x="0" y="0"/>
                </a:moveTo>
                <a:lnTo>
                  <a:pt x="2162175" y="0"/>
                </a:lnTo>
                <a:lnTo>
                  <a:pt x="2162175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6291263" y="2592883"/>
            <a:ext cx="21621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Shop with ease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291263" y="2845295"/>
            <a:ext cx="2162175" cy="361950"/>
          </a:xfrm>
          <a:custGeom>
            <a:avLst/>
            <a:gdLst/>
            <a:ahLst/>
            <a:cxnLst/>
            <a:rect l="l" t="t" r="r" b="b"/>
            <a:pathLst>
              <a:path w="2162175" h="361950">
                <a:moveTo>
                  <a:pt x="0" y="0"/>
                </a:moveTo>
                <a:lnTo>
                  <a:pt x="2162175" y="0"/>
                </a:lnTo>
                <a:lnTo>
                  <a:pt x="2162175" y="361950"/>
                </a:lnTo>
                <a:lnTo>
                  <a:pt x="0" y="3619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29"/>
          <p:cNvSpPr/>
          <p:nvPr/>
        </p:nvSpPr>
        <p:spPr>
          <a:xfrm>
            <a:off x="6291263" y="2845295"/>
            <a:ext cx="21621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 one grocery list from all planned meals.</a:t>
            </a:r>
            <a:endParaRPr lang="en-US" sz="9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0309" y="4443889"/>
            <a:ext cx="119062" cy="119062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6465540" y="4429601"/>
            <a:ext cx="1176338" cy="147637"/>
          </a:xfrm>
          <a:custGeom>
            <a:avLst/>
            <a:gdLst/>
            <a:ahLst/>
            <a:cxnLst/>
            <a:rect l="l" t="t" r="r" b="b"/>
            <a:pathLst>
              <a:path w="1176338" h="147637">
                <a:moveTo>
                  <a:pt x="0" y="0"/>
                </a:moveTo>
                <a:lnTo>
                  <a:pt x="1176338" y="0"/>
                </a:lnTo>
                <a:lnTo>
                  <a:pt x="117633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1"/>
          <p:cNvSpPr/>
          <p:nvPr/>
        </p:nvSpPr>
        <p:spPr>
          <a:xfrm>
            <a:off x="6465540" y="4429601"/>
            <a:ext cx="117633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C56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plan to pantry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57200" y="361474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7200" y="361474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7A9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 FOUNDATIONS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66826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566826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 Concepts Used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983158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983158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meal planner combines core language features with practical input and file behavior.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966048"/>
            <a:ext cx="4000500" cy="2833687"/>
          </a:xfrm>
          <a:custGeom>
            <a:avLst/>
            <a:gdLst/>
            <a:ahLst/>
            <a:cxnLst/>
            <a:rect l="l" t="t" r="r" b="b"/>
            <a:pathLst>
              <a:path w="4000500" h="2833687">
                <a:moveTo>
                  <a:pt x="43044" y="0"/>
                </a:moveTo>
                <a:lnTo>
                  <a:pt x="3957456" y="0"/>
                </a:lnTo>
                <a:quadBezTo>
                  <a:pt x="4000500" y="0"/>
                  <a:pt x="4000500" y="43044"/>
                </a:quadBezTo>
                <a:lnTo>
                  <a:pt x="4000500" y="2790644"/>
                </a:lnTo>
                <a:quadBezTo>
                  <a:pt x="4000500" y="2833687"/>
                  <a:pt x="3957456" y="2833687"/>
                </a:quadBezTo>
                <a:lnTo>
                  <a:pt x="43044" y="2833687"/>
                </a:lnTo>
                <a:quadBezTo>
                  <a:pt x="0" y="2833687"/>
                  <a:pt x="0" y="2790644"/>
                </a:quadBezTo>
                <a:lnTo>
                  <a:pt x="0" y="43044"/>
                </a:lnTo>
                <a:quadBezTo>
                  <a:pt x="0" y="0"/>
                  <a:pt x="43044" y="0"/>
                </a:quadBezTo>
                <a:close/>
              </a:path>
            </a:pathLst>
          </a:custGeom>
          <a:solidFill>
            <a:srgbClr val="F7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04850" y="2193785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0511" y="0"/>
                </a:moveTo>
                <a:lnTo>
                  <a:pt x="263339" y="0"/>
                </a:lnTo>
                <a:quadBezTo>
                  <a:pt x="323850" y="0"/>
                  <a:pt x="323850" y="60511"/>
                </a:quadBezTo>
                <a:lnTo>
                  <a:pt x="323850" y="263339"/>
                </a:lnTo>
                <a:quadBezTo>
                  <a:pt x="323850" y="323850"/>
                  <a:pt x="263339" y="323850"/>
                </a:quadBezTo>
                <a:lnTo>
                  <a:pt x="60511" y="323850"/>
                </a:lnTo>
                <a:quadBezTo>
                  <a:pt x="0" y="323850"/>
                  <a:pt x="0" y="263339"/>
                </a:quadBezTo>
                <a:lnTo>
                  <a:pt x="0" y="60511"/>
                </a:lnTo>
                <a:quadBezTo>
                  <a:pt x="0" y="0"/>
                  <a:pt x="60511" y="0"/>
                </a:quadBezTo>
                <a:close/>
              </a:path>
            </a:pathLst>
          </a:custGeom>
          <a:solidFill>
            <a:srgbClr val="2E5E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274747"/>
            <a:ext cx="161925" cy="1619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114068" y="2253318"/>
            <a:ext cx="1733550" cy="204787"/>
          </a:xfrm>
          <a:custGeom>
            <a:avLst/>
            <a:gdLst/>
            <a:ahLst/>
            <a:cxnLst/>
            <a:rect l="l" t="t" r="r" b="b"/>
            <a:pathLst>
              <a:path w="1733550" h="204787">
                <a:moveTo>
                  <a:pt x="0" y="0"/>
                </a:moveTo>
                <a:lnTo>
                  <a:pt x="1733550" y="0"/>
                </a:lnTo>
                <a:lnTo>
                  <a:pt x="1733550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1114068" y="2253318"/>
            <a:ext cx="173355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Language Features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2693847"/>
            <a:ext cx="128588" cy="12858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9162" y="2679560"/>
            <a:ext cx="3290887" cy="166688"/>
          </a:xfrm>
          <a:custGeom>
            <a:avLst/>
            <a:gdLst/>
            <a:ahLst/>
            <a:cxnLst/>
            <a:rect l="l" t="t" r="r" b="b"/>
            <a:pathLst>
              <a:path w="3290887" h="166688">
                <a:moveTo>
                  <a:pt x="0" y="0"/>
                </a:moveTo>
                <a:lnTo>
                  <a:pt x="3290887" y="0"/>
                </a:lnTo>
                <a:lnTo>
                  <a:pt x="3290887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919162" y="2679560"/>
            <a:ext cx="329088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Object-oriented design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919162" y="2883157"/>
            <a:ext cx="3290887" cy="323850"/>
          </a:xfrm>
          <a:custGeom>
            <a:avLst/>
            <a:gdLst/>
            <a:ahLst/>
            <a:cxnLst/>
            <a:rect l="l" t="t" r="r" b="b"/>
            <a:pathLst>
              <a:path w="3290887" h="323850">
                <a:moveTo>
                  <a:pt x="0" y="0"/>
                </a:moveTo>
                <a:lnTo>
                  <a:pt x="3290887" y="0"/>
                </a:lnTo>
                <a:lnTo>
                  <a:pt x="3290887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919162" y="2883157"/>
            <a:ext cx="32908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Classes and objects model Meal, MealPlanner, and GroceryList.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3353453"/>
            <a:ext cx="128588" cy="12858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19162" y="3339167"/>
            <a:ext cx="3290887" cy="166688"/>
          </a:xfrm>
          <a:custGeom>
            <a:avLst/>
            <a:gdLst/>
            <a:ahLst/>
            <a:cxnLst/>
            <a:rect l="l" t="t" r="r" b="b"/>
            <a:pathLst>
              <a:path w="3290887" h="166688">
                <a:moveTo>
                  <a:pt x="0" y="0"/>
                </a:moveTo>
                <a:lnTo>
                  <a:pt x="3290887" y="0"/>
                </a:lnTo>
                <a:lnTo>
                  <a:pt x="3290887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919162" y="3339167"/>
            <a:ext cx="329088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Collections and control flow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919162" y="3542763"/>
            <a:ext cx="3290887" cy="323850"/>
          </a:xfrm>
          <a:custGeom>
            <a:avLst/>
            <a:gdLst/>
            <a:ahLst/>
            <a:cxnLst/>
            <a:rect l="l" t="t" r="r" b="b"/>
            <a:pathLst>
              <a:path w="3290887" h="323850">
                <a:moveTo>
                  <a:pt x="0" y="0"/>
                </a:moveTo>
                <a:lnTo>
                  <a:pt x="3290887" y="0"/>
                </a:lnTo>
                <a:lnTo>
                  <a:pt x="3290887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919162" y="3542763"/>
            <a:ext cx="32908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ArrayList, HashMap, loops, and conditionals organize meals and ingredients.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04850" y="4295297"/>
            <a:ext cx="3505200" cy="276225"/>
          </a:xfrm>
          <a:custGeom>
            <a:avLst/>
            <a:gdLst/>
            <a:ahLst/>
            <a:cxnLst/>
            <a:rect l="l" t="t" r="r" b="b"/>
            <a:pathLst>
              <a:path w="3505200" h="276225">
                <a:moveTo>
                  <a:pt x="0" y="0"/>
                </a:moveTo>
                <a:lnTo>
                  <a:pt x="3505200" y="0"/>
                </a:lnTo>
                <a:lnTo>
                  <a:pt x="3505200" y="276225"/>
                </a:lnTo>
                <a:lnTo>
                  <a:pt x="0" y="276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4446745"/>
            <a:ext cx="114300" cy="11430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75704" y="4434840"/>
            <a:ext cx="2595563" cy="138113"/>
          </a:xfrm>
          <a:custGeom>
            <a:avLst/>
            <a:gdLst/>
            <a:ahLst/>
            <a:cxnLst/>
            <a:rect l="l" t="t" r="r" b="b"/>
            <a:pathLst>
              <a:path w="2595563" h="138113">
                <a:moveTo>
                  <a:pt x="0" y="0"/>
                </a:moveTo>
                <a:lnTo>
                  <a:pt x="2595563" y="0"/>
                </a:lnTo>
                <a:lnTo>
                  <a:pt x="2595563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/>
          <p:nvPr/>
        </p:nvSpPr>
        <p:spPr>
          <a:xfrm>
            <a:off x="875704" y="4434840"/>
            <a:ext cx="259556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5E7D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 turns a recipe idea into reusable code.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686300" y="1966048"/>
            <a:ext cx="4000500" cy="2833687"/>
          </a:xfrm>
          <a:custGeom>
            <a:avLst/>
            <a:gdLst/>
            <a:ahLst/>
            <a:cxnLst/>
            <a:rect l="l" t="t" r="r" b="b"/>
            <a:pathLst>
              <a:path w="4000500" h="2833687">
                <a:moveTo>
                  <a:pt x="43044" y="0"/>
                </a:moveTo>
                <a:lnTo>
                  <a:pt x="3957456" y="0"/>
                </a:lnTo>
                <a:quadBezTo>
                  <a:pt x="4000500" y="0"/>
                  <a:pt x="4000500" y="43044"/>
                </a:quadBezTo>
                <a:lnTo>
                  <a:pt x="4000500" y="2790644"/>
                </a:lnTo>
                <a:quadBezTo>
                  <a:pt x="4000500" y="2833687"/>
                  <a:pt x="3957456" y="2833687"/>
                </a:quadBezTo>
                <a:lnTo>
                  <a:pt x="43044" y="2833687"/>
                </a:lnTo>
                <a:quadBezTo>
                  <a:pt x="0" y="2833687"/>
                  <a:pt x="0" y="2790644"/>
                </a:quadBezTo>
                <a:lnTo>
                  <a:pt x="0" y="43044"/>
                </a:lnTo>
                <a:quadBezTo>
                  <a:pt x="0" y="0"/>
                  <a:pt x="43044" y="0"/>
                </a:quadBezTo>
                <a:close/>
              </a:path>
            </a:pathLst>
          </a:custGeom>
          <a:solidFill>
            <a:srgbClr val="FF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4933950" y="2193785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0511" y="0"/>
                </a:moveTo>
                <a:lnTo>
                  <a:pt x="263339" y="0"/>
                </a:lnTo>
                <a:quadBezTo>
                  <a:pt x="323850" y="0"/>
                  <a:pt x="323850" y="60511"/>
                </a:quadBezTo>
                <a:lnTo>
                  <a:pt x="323850" y="263339"/>
                </a:lnTo>
                <a:quadBezTo>
                  <a:pt x="323850" y="323850"/>
                  <a:pt x="263339" y="323850"/>
                </a:quadBezTo>
                <a:lnTo>
                  <a:pt x="60511" y="323850"/>
                </a:lnTo>
                <a:quadBezTo>
                  <a:pt x="0" y="323850"/>
                  <a:pt x="0" y="263339"/>
                </a:quadBezTo>
                <a:lnTo>
                  <a:pt x="0" y="60511"/>
                </a:lnTo>
                <a:quadBezTo>
                  <a:pt x="0" y="0"/>
                  <a:pt x="60511" y="0"/>
                </a:quadBezTo>
                <a:close/>
              </a:path>
            </a:pathLst>
          </a:custGeom>
          <a:solidFill>
            <a:srgbClr val="E98B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4913" y="2274747"/>
            <a:ext cx="161925" cy="161925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5344091" y="2253318"/>
            <a:ext cx="1595437" cy="204787"/>
          </a:xfrm>
          <a:custGeom>
            <a:avLst/>
            <a:gdLst/>
            <a:ahLst/>
            <a:cxnLst/>
            <a:rect l="l" t="t" r="r" b="b"/>
            <a:pathLst>
              <a:path w="1595437" h="204787">
                <a:moveTo>
                  <a:pt x="0" y="0"/>
                </a:moveTo>
                <a:lnTo>
                  <a:pt x="1595437" y="0"/>
                </a:lnTo>
                <a:lnTo>
                  <a:pt x="1595437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/>
          <p:nvPr/>
        </p:nvSpPr>
        <p:spPr>
          <a:xfrm>
            <a:off x="5344091" y="2253318"/>
            <a:ext cx="1595437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&amp; Reliability</a:t>
            </a:r>
            <a:endParaRPr lang="en-US" sz="9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3950" y="2693847"/>
            <a:ext cx="128588" cy="128588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5148263" y="2679560"/>
            <a:ext cx="3290887" cy="166688"/>
          </a:xfrm>
          <a:custGeom>
            <a:avLst/>
            <a:gdLst/>
            <a:ahLst/>
            <a:cxnLst/>
            <a:rect l="l" t="t" r="r" b="b"/>
            <a:pathLst>
              <a:path w="3290887" h="166688">
                <a:moveTo>
                  <a:pt x="0" y="0"/>
                </a:moveTo>
                <a:lnTo>
                  <a:pt x="3290887" y="0"/>
                </a:lnTo>
                <a:lnTo>
                  <a:pt x="3290887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28"/>
          <p:cNvSpPr/>
          <p:nvPr/>
        </p:nvSpPr>
        <p:spPr>
          <a:xfrm>
            <a:off x="5148263" y="2679560"/>
            <a:ext cx="329088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handling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5148263" y="2883157"/>
            <a:ext cx="3290887" cy="323850"/>
          </a:xfrm>
          <a:custGeom>
            <a:avLst/>
            <a:gdLst/>
            <a:ahLst/>
            <a:cxnLst/>
            <a:rect l="l" t="t" r="r" b="b"/>
            <a:pathLst>
              <a:path w="3290887" h="323850">
                <a:moveTo>
                  <a:pt x="0" y="0"/>
                </a:moveTo>
                <a:lnTo>
                  <a:pt x="3290887" y="0"/>
                </a:lnTo>
                <a:lnTo>
                  <a:pt x="3290887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0"/>
          <p:cNvSpPr/>
          <p:nvPr/>
        </p:nvSpPr>
        <p:spPr>
          <a:xfrm>
            <a:off x="5148263" y="2883157"/>
            <a:ext cx="32908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Reads and writes meal-planning information for continued use.</a:t>
            </a:r>
            <a:endParaRPr lang="en-US" sz="9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3950" y="3353453"/>
            <a:ext cx="128588" cy="128588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5148263" y="3339167"/>
            <a:ext cx="3290887" cy="166688"/>
          </a:xfrm>
          <a:custGeom>
            <a:avLst/>
            <a:gdLst/>
            <a:ahLst/>
            <a:cxnLst/>
            <a:rect l="l" t="t" r="r" b="b"/>
            <a:pathLst>
              <a:path w="3290887" h="166688">
                <a:moveTo>
                  <a:pt x="0" y="0"/>
                </a:moveTo>
                <a:lnTo>
                  <a:pt x="3290887" y="0"/>
                </a:lnTo>
                <a:lnTo>
                  <a:pt x="3290887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2"/>
          <p:cNvSpPr/>
          <p:nvPr/>
        </p:nvSpPr>
        <p:spPr>
          <a:xfrm>
            <a:off x="5148263" y="3339167"/>
            <a:ext cx="329088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input and exceptions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5148263" y="3542763"/>
            <a:ext cx="3290887" cy="323850"/>
          </a:xfrm>
          <a:custGeom>
            <a:avLst/>
            <a:gdLst/>
            <a:ahLst/>
            <a:cxnLst/>
            <a:rect l="l" t="t" r="r" b="b"/>
            <a:pathLst>
              <a:path w="3290887" h="323850">
                <a:moveTo>
                  <a:pt x="0" y="0"/>
                </a:moveTo>
                <a:lnTo>
                  <a:pt x="3290887" y="0"/>
                </a:lnTo>
                <a:lnTo>
                  <a:pt x="3290887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4"/>
          <p:cNvSpPr/>
          <p:nvPr/>
        </p:nvSpPr>
        <p:spPr>
          <a:xfrm>
            <a:off x="5148263" y="3542763"/>
            <a:ext cx="32908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Scanner captures choices while exception handling keeps the program dependable.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4933950" y="4295297"/>
            <a:ext cx="3505200" cy="276225"/>
          </a:xfrm>
          <a:custGeom>
            <a:avLst/>
            <a:gdLst/>
            <a:ahLst/>
            <a:cxnLst/>
            <a:rect l="l" t="t" r="r" b="b"/>
            <a:pathLst>
              <a:path w="3505200" h="276225">
                <a:moveTo>
                  <a:pt x="0" y="0"/>
                </a:moveTo>
                <a:lnTo>
                  <a:pt x="3505200" y="0"/>
                </a:lnTo>
                <a:lnTo>
                  <a:pt x="3505200" y="276225"/>
                </a:lnTo>
                <a:lnTo>
                  <a:pt x="0" y="276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3950" y="4446745"/>
            <a:ext cx="114300" cy="114300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5105936" y="4434840"/>
            <a:ext cx="2776537" cy="138113"/>
          </a:xfrm>
          <a:custGeom>
            <a:avLst/>
            <a:gdLst/>
            <a:ahLst/>
            <a:cxnLst/>
            <a:rect l="l" t="t" r="r" b="b"/>
            <a:pathLst>
              <a:path w="2776537" h="138113">
                <a:moveTo>
                  <a:pt x="0" y="0"/>
                </a:moveTo>
                <a:lnTo>
                  <a:pt x="2776537" y="0"/>
                </a:lnTo>
                <a:lnTo>
                  <a:pt x="2776537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37"/>
          <p:cNvSpPr/>
          <p:nvPr/>
        </p:nvSpPr>
        <p:spPr>
          <a:xfrm>
            <a:off x="5105936" y="4434840"/>
            <a:ext cx="277653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A85F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Good input handling keeps meal planning on track.</a:t>
            </a:r>
            <a:endParaRPr lang="en-US" sz="90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4295297"/>
            <a:ext cx="3505200" cy="276225"/>
          </a:xfrm>
          <a:prstGeom prst="rect">
            <a:avLst/>
          </a:prstGeom>
        </p:spPr>
      </p:pic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3950" y="4295297"/>
            <a:ext cx="350520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57200" y="370999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7200" y="370999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7A9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· CORE RESPONSIBILITIES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76351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576351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Design </a:t>
            </a:r>
            <a:r>
              <a:rPr lang="en-US" sz="2498" dirty="0">
                <a:solidFill>
                  <a:srgbClr val="7A9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Class Structure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990540"/>
            <a:ext cx="5334000" cy="195263"/>
          </a:xfrm>
          <a:custGeom>
            <a:avLst/>
            <a:gdLst/>
            <a:ahLst/>
            <a:cxnLst/>
            <a:rect l="l" t="t" r="r" b="b"/>
            <a:pathLst>
              <a:path w="5334000" h="195263">
                <a:moveTo>
                  <a:pt x="0" y="0"/>
                </a:moveTo>
                <a:lnTo>
                  <a:pt x="5334000" y="0"/>
                </a:lnTo>
                <a:lnTo>
                  <a:pt x="53340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990540"/>
            <a:ext cx="53340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simple separation of data, planning logic, grocery output, and user flow.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756736"/>
            <a:ext cx="4000500" cy="3043238"/>
          </a:xfrm>
          <a:custGeom>
            <a:avLst/>
            <a:gdLst/>
            <a:ahLst/>
            <a:cxnLst/>
            <a:rect l="l" t="t" r="r" b="b"/>
            <a:pathLst>
              <a:path w="4000500" h="3043238">
                <a:moveTo>
                  <a:pt x="40079" y="0"/>
                </a:moveTo>
                <a:lnTo>
                  <a:pt x="3960421" y="0"/>
                </a:lnTo>
                <a:quadBezTo>
                  <a:pt x="4000500" y="0"/>
                  <a:pt x="4000500" y="40079"/>
                </a:quadBezTo>
                <a:lnTo>
                  <a:pt x="4000500" y="3003158"/>
                </a:lnTo>
                <a:quadBezTo>
                  <a:pt x="4000500" y="3043238"/>
                  <a:pt x="3960421" y="3043238"/>
                </a:quadBezTo>
                <a:lnTo>
                  <a:pt x="40079" y="3043238"/>
                </a:lnTo>
                <a:quadBezTo>
                  <a:pt x="0" y="3043238"/>
                  <a:pt x="0" y="3003158"/>
                </a:quadBezTo>
                <a:lnTo>
                  <a:pt x="0" y="40079"/>
                </a:lnTo>
                <a:quadBezTo>
                  <a:pt x="0" y="0"/>
                  <a:pt x="40079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33350" dist="57150" dir="2700000" algn="bl" rotWithShape="0">
              <a:srgbClr val="2E5E3A">
                <a:alpha val="7843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95325" y="2002334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7234" y="0"/>
                </a:moveTo>
                <a:lnTo>
                  <a:pt x="256616" y="0"/>
                </a:lnTo>
                <a:quadBezTo>
                  <a:pt x="323850" y="0"/>
                  <a:pt x="323850" y="67234"/>
                </a:quadBezTo>
                <a:lnTo>
                  <a:pt x="323850" y="256616"/>
                </a:lnTo>
                <a:quadBezTo>
                  <a:pt x="323850" y="323850"/>
                  <a:pt x="256616" y="323850"/>
                </a:quadBezTo>
                <a:lnTo>
                  <a:pt x="67234" y="323850"/>
                </a:lnTo>
                <a:quadBezTo>
                  <a:pt x="0" y="323850"/>
                  <a:pt x="0" y="256616"/>
                </a:quadBezTo>
                <a:lnTo>
                  <a:pt x="0" y="67234"/>
                </a:lnTo>
                <a:quadBezTo>
                  <a:pt x="0" y="0"/>
                  <a:pt x="67234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87" y="2083297"/>
            <a:ext cx="161925" cy="1619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124635" y="1976139"/>
            <a:ext cx="1609725" cy="123825"/>
          </a:xfrm>
          <a:custGeom>
            <a:avLst/>
            <a:gdLst/>
            <a:ahLst/>
            <a:cxnLst/>
            <a:rect l="l" t="t" r="r" b="b"/>
            <a:pathLst>
              <a:path w="1609725" h="123825">
                <a:moveTo>
                  <a:pt x="0" y="0"/>
                </a:moveTo>
                <a:lnTo>
                  <a:pt x="1609725" y="0"/>
                </a:lnTo>
                <a:lnTo>
                  <a:pt x="160972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1124635" y="1976139"/>
            <a:ext cx="1609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7A9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DOMAIN MODEL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124635" y="2134253"/>
            <a:ext cx="1609725" cy="219075"/>
          </a:xfrm>
          <a:custGeom>
            <a:avLst/>
            <a:gdLst/>
            <a:ahLst/>
            <a:cxnLst/>
            <a:rect l="l" t="t" r="r" b="b"/>
            <a:pathLst>
              <a:path w="1609725" h="219075">
                <a:moveTo>
                  <a:pt x="0" y="0"/>
                </a:moveTo>
                <a:lnTo>
                  <a:pt x="1609725" y="0"/>
                </a:lnTo>
                <a:lnTo>
                  <a:pt x="1609725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1124635" y="2134253"/>
            <a:ext cx="16097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&amp; planning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95325" y="257240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E98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48201" y="2514064"/>
            <a:ext cx="2657475" cy="180975"/>
          </a:xfrm>
          <a:custGeom>
            <a:avLst/>
            <a:gdLst/>
            <a:ahLst/>
            <a:cxnLst/>
            <a:rect l="l" t="t" r="r" b="b"/>
            <a:pathLst>
              <a:path w="2657475" h="180975">
                <a:moveTo>
                  <a:pt x="0" y="0"/>
                </a:moveTo>
                <a:lnTo>
                  <a:pt x="2657475" y="0"/>
                </a:lnTo>
                <a:lnTo>
                  <a:pt x="26574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848201" y="2514064"/>
            <a:ext cx="26574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2E5E3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Meal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848201" y="2737663"/>
            <a:ext cx="2657475" cy="171450"/>
          </a:xfrm>
          <a:custGeom>
            <a:avLst/>
            <a:gdLst/>
            <a:ahLst/>
            <a:cxnLst/>
            <a:rect l="l" t="t" r="r" b="b"/>
            <a:pathLst>
              <a:path w="2657475" h="171450">
                <a:moveTo>
                  <a:pt x="0" y="0"/>
                </a:moveTo>
                <a:lnTo>
                  <a:pt x="2657475" y="0"/>
                </a:lnTo>
                <a:lnTo>
                  <a:pt x="265747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848201" y="2737663"/>
            <a:ext cx="2657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Stores a meal name and its ingredients list.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95325" y="3052940"/>
            <a:ext cx="3524250" cy="4763"/>
          </a:xfrm>
          <a:custGeom>
            <a:avLst/>
            <a:gdLst/>
            <a:ahLst/>
            <a:cxnLst/>
            <a:rect l="l" t="t" r="r" b="b"/>
            <a:pathLst>
              <a:path w="3524250" h="4763">
                <a:moveTo>
                  <a:pt x="0" y="0"/>
                </a:moveTo>
                <a:lnTo>
                  <a:pt x="3524250" y="0"/>
                </a:lnTo>
                <a:lnTo>
                  <a:pt x="352425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DCE8D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95325" y="325772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7A9B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847725" y="3199387"/>
            <a:ext cx="3371850" cy="180975"/>
          </a:xfrm>
          <a:custGeom>
            <a:avLst/>
            <a:gdLst/>
            <a:ahLst/>
            <a:cxnLst/>
            <a:rect l="l" t="t" r="r" b="b"/>
            <a:pathLst>
              <a:path w="3371850" h="180975">
                <a:moveTo>
                  <a:pt x="0" y="0"/>
                </a:moveTo>
                <a:lnTo>
                  <a:pt x="3371850" y="0"/>
                </a:lnTo>
                <a:lnTo>
                  <a:pt x="33718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847725" y="3199387"/>
            <a:ext cx="3371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2E5E3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MealPlanner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47725" y="3421558"/>
            <a:ext cx="3371850" cy="347663"/>
          </a:xfrm>
          <a:custGeom>
            <a:avLst/>
            <a:gdLst/>
            <a:ahLst/>
            <a:cxnLst/>
            <a:rect l="l" t="t" r="r" b="b"/>
            <a:pathLst>
              <a:path w="3371850" h="347663">
                <a:moveTo>
                  <a:pt x="0" y="0"/>
                </a:moveTo>
                <a:lnTo>
                  <a:pt x="3371850" y="0"/>
                </a:lnTo>
                <a:lnTo>
                  <a:pt x="337185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847725" y="3421558"/>
            <a:ext cx="33718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Owns the weekPlan map, with methods to add meals and view the plan.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86300" y="1756736"/>
            <a:ext cx="4000500" cy="3043238"/>
          </a:xfrm>
          <a:custGeom>
            <a:avLst/>
            <a:gdLst/>
            <a:ahLst/>
            <a:cxnLst/>
            <a:rect l="l" t="t" r="r" b="b"/>
            <a:pathLst>
              <a:path w="4000500" h="3043238">
                <a:moveTo>
                  <a:pt x="40079" y="0"/>
                </a:moveTo>
                <a:lnTo>
                  <a:pt x="3960421" y="0"/>
                </a:lnTo>
                <a:quadBezTo>
                  <a:pt x="4000500" y="0"/>
                  <a:pt x="4000500" y="40079"/>
                </a:quadBezTo>
                <a:lnTo>
                  <a:pt x="4000500" y="3003158"/>
                </a:lnTo>
                <a:quadBezTo>
                  <a:pt x="4000500" y="3043238"/>
                  <a:pt x="3960421" y="3043238"/>
                </a:quadBezTo>
                <a:lnTo>
                  <a:pt x="40079" y="3043238"/>
                </a:lnTo>
                <a:quadBezTo>
                  <a:pt x="0" y="3043238"/>
                  <a:pt x="0" y="3003158"/>
                </a:quadBezTo>
                <a:lnTo>
                  <a:pt x="0" y="40079"/>
                </a:lnTo>
                <a:quadBezTo>
                  <a:pt x="0" y="0"/>
                  <a:pt x="40079" y="0"/>
                </a:quadBezTo>
                <a:close/>
              </a:path>
            </a:pathLst>
          </a:custGeom>
          <a:solidFill>
            <a:srgbClr val="EAF3E3"/>
          </a:solidFill>
          <a:ln/>
          <a:effectLst>
            <a:outerShdw blurRad="133350" dist="57150" dir="2700000" algn="bl" rotWithShape="0">
              <a:srgbClr val="2E5E3A">
                <a:alpha val="5882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4924425" y="2002334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7234" y="0"/>
                </a:moveTo>
                <a:lnTo>
                  <a:pt x="256616" y="0"/>
                </a:lnTo>
                <a:quadBezTo>
                  <a:pt x="323850" y="0"/>
                  <a:pt x="323850" y="67234"/>
                </a:quadBezTo>
                <a:lnTo>
                  <a:pt x="323850" y="256616"/>
                </a:lnTo>
                <a:quadBezTo>
                  <a:pt x="323850" y="323850"/>
                  <a:pt x="256616" y="323850"/>
                </a:quadBezTo>
                <a:lnTo>
                  <a:pt x="67234" y="323850"/>
                </a:lnTo>
                <a:quadBezTo>
                  <a:pt x="0" y="323850"/>
                  <a:pt x="0" y="256616"/>
                </a:quadBezTo>
                <a:lnTo>
                  <a:pt x="0" y="67234"/>
                </a:lnTo>
                <a:quadBezTo>
                  <a:pt x="0" y="0"/>
                  <a:pt x="67234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388" y="2083297"/>
            <a:ext cx="161925" cy="161925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5352752" y="1976139"/>
            <a:ext cx="2243138" cy="123825"/>
          </a:xfrm>
          <a:custGeom>
            <a:avLst/>
            <a:gdLst/>
            <a:ahLst/>
            <a:cxnLst/>
            <a:rect l="l" t="t" r="r" b="b"/>
            <a:pathLst>
              <a:path w="2243138" h="123825">
                <a:moveTo>
                  <a:pt x="0" y="0"/>
                </a:moveTo>
                <a:lnTo>
                  <a:pt x="2243138" y="0"/>
                </a:lnTo>
                <a:lnTo>
                  <a:pt x="2243138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/>
          <p:nvPr/>
        </p:nvSpPr>
        <p:spPr>
          <a:xfrm>
            <a:off x="5352752" y="1976139"/>
            <a:ext cx="22431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5E7D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FLOW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352752" y="2134253"/>
            <a:ext cx="2243138" cy="219075"/>
          </a:xfrm>
          <a:custGeom>
            <a:avLst/>
            <a:gdLst/>
            <a:ahLst/>
            <a:cxnLst/>
            <a:rect l="l" t="t" r="r" b="b"/>
            <a:pathLst>
              <a:path w="2243138" h="219075">
                <a:moveTo>
                  <a:pt x="0" y="0"/>
                </a:moveTo>
                <a:lnTo>
                  <a:pt x="2243138" y="0"/>
                </a:lnTo>
                <a:lnTo>
                  <a:pt x="2243138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/>
          <p:nvPr/>
        </p:nvSpPr>
        <p:spPr>
          <a:xfrm>
            <a:off x="5352752" y="2134253"/>
            <a:ext cx="22431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 &amp; coordination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924425" y="257240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E98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2"/>
          <p:cNvSpPr/>
          <p:nvPr/>
        </p:nvSpPr>
        <p:spPr>
          <a:xfrm>
            <a:off x="5076825" y="2514064"/>
            <a:ext cx="3371850" cy="180975"/>
          </a:xfrm>
          <a:custGeom>
            <a:avLst/>
            <a:gdLst/>
            <a:ahLst/>
            <a:cxnLst/>
            <a:rect l="l" t="t" r="r" b="b"/>
            <a:pathLst>
              <a:path w="3371850" h="180975">
                <a:moveTo>
                  <a:pt x="0" y="0"/>
                </a:moveTo>
                <a:lnTo>
                  <a:pt x="3371850" y="0"/>
                </a:lnTo>
                <a:lnTo>
                  <a:pt x="33718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5076825" y="2514064"/>
            <a:ext cx="3371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2E5E3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GroceryListGenerator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5076825" y="2736235"/>
            <a:ext cx="3371850" cy="347663"/>
          </a:xfrm>
          <a:custGeom>
            <a:avLst/>
            <a:gdLst/>
            <a:ahLst/>
            <a:cxnLst/>
            <a:rect l="l" t="t" r="r" b="b"/>
            <a:pathLst>
              <a:path w="3371850" h="347663">
                <a:moveTo>
                  <a:pt x="0" y="0"/>
                </a:moveTo>
                <a:lnTo>
                  <a:pt x="3371850" y="0"/>
                </a:lnTo>
                <a:lnTo>
                  <a:pt x="337185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5076825" y="2736235"/>
            <a:ext cx="33718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Generates a grocery list and merges duplicate ingredients.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924425" y="3226297"/>
            <a:ext cx="3524250" cy="4763"/>
          </a:xfrm>
          <a:custGeom>
            <a:avLst/>
            <a:gdLst/>
            <a:ahLst/>
            <a:cxnLst/>
            <a:rect l="l" t="t" r="r" b="b"/>
            <a:pathLst>
              <a:path w="3524250" h="4763">
                <a:moveTo>
                  <a:pt x="0" y="0"/>
                </a:moveTo>
                <a:lnTo>
                  <a:pt x="3524250" y="0"/>
                </a:lnTo>
                <a:lnTo>
                  <a:pt x="352425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C9D6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7"/>
          <p:cNvSpPr/>
          <p:nvPr/>
        </p:nvSpPr>
        <p:spPr>
          <a:xfrm>
            <a:off x="4924425" y="343108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7A9B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38"/>
          <p:cNvSpPr/>
          <p:nvPr/>
        </p:nvSpPr>
        <p:spPr>
          <a:xfrm>
            <a:off x="5076825" y="3372743"/>
            <a:ext cx="3371850" cy="180975"/>
          </a:xfrm>
          <a:custGeom>
            <a:avLst/>
            <a:gdLst/>
            <a:ahLst/>
            <a:cxnLst/>
            <a:rect l="l" t="t" r="r" b="b"/>
            <a:pathLst>
              <a:path w="3371850" h="180975">
                <a:moveTo>
                  <a:pt x="0" y="0"/>
                </a:moveTo>
                <a:lnTo>
                  <a:pt x="3371850" y="0"/>
                </a:lnTo>
                <a:lnTo>
                  <a:pt x="33718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9"/>
          <p:cNvSpPr/>
          <p:nvPr/>
        </p:nvSpPr>
        <p:spPr>
          <a:xfrm>
            <a:off x="5076825" y="3372743"/>
            <a:ext cx="3371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2E5E3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Main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5076825" y="3594914"/>
            <a:ext cx="3371850" cy="347663"/>
          </a:xfrm>
          <a:custGeom>
            <a:avLst/>
            <a:gdLst/>
            <a:ahLst/>
            <a:cxnLst/>
            <a:rect l="l" t="t" r="r" b="b"/>
            <a:pathLst>
              <a:path w="3371850" h="347663">
                <a:moveTo>
                  <a:pt x="0" y="0"/>
                </a:moveTo>
                <a:lnTo>
                  <a:pt x="3371850" y="0"/>
                </a:lnTo>
                <a:lnTo>
                  <a:pt x="337185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5076825" y="3594914"/>
            <a:ext cx="33718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Runs the menu loop and coordinates the application flow.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38150" y="370999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38150" y="370999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WORKFLOW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50" y="585876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38150" y="585876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meal entry to a ready weekly plan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50" y="1011734"/>
            <a:ext cx="5238750" cy="409575"/>
          </a:xfrm>
          <a:custGeom>
            <a:avLst/>
            <a:gdLst/>
            <a:ahLst/>
            <a:cxnLst/>
            <a:rect l="l" t="t" r="r" b="b"/>
            <a:pathLst>
              <a:path w="5238750" h="409575">
                <a:moveTo>
                  <a:pt x="0" y="0"/>
                </a:moveTo>
                <a:lnTo>
                  <a:pt x="5238750" y="0"/>
                </a:lnTo>
                <a:lnTo>
                  <a:pt x="523875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38150" y="1011734"/>
            <a:ext cx="5238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simple three-step flow turns daily choices into an organized shopping list.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923" y="2619673"/>
            <a:ext cx="1738312" cy="1057275"/>
          </a:xfrm>
          <a:custGeom>
            <a:avLst/>
            <a:gdLst/>
            <a:ahLst/>
            <a:cxnLst/>
            <a:rect l="l" t="t" r="r" b="b"/>
            <a:pathLst>
              <a:path w="1738312" h="1057275">
                <a:moveTo>
                  <a:pt x="115328" y="0"/>
                </a:moveTo>
                <a:lnTo>
                  <a:pt x="1622985" y="0"/>
                </a:lnTo>
                <a:quadBezTo>
                  <a:pt x="1738312" y="0"/>
                  <a:pt x="1738312" y="115328"/>
                </a:quadBezTo>
                <a:lnTo>
                  <a:pt x="1738312" y="941947"/>
                </a:lnTo>
                <a:quadBezTo>
                  <a:pt x="1738312" y="1057275"/>
                  <a:pt x="1622985" y="1057275"/>
                </a:quadBezTo>
                <a:lnTo>
                  <a:pt x="115328" y="1057275"/>
                </a:lnTo>
                <a:quadBezTo>
                  <a:pt x="0" y="1057275"/>
                  <a:pt x="0" y="941947"/>
                </a:quadBezTo>
                <a:lnTo>
                  <a:pt x="0" y="115328"/>
                </a:lnTo>
                <a:quadBezTo>
                  <a:pt x="0" y="0"/>
                  <a:pt x="115328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33350" dist="57150" dir="2700000" algn="bl" rotWithShape="0">
              <a:srgbClr val="2E5E3A">
                <a:alpha val="7843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19125" y="2781598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67732" y="0"/>
                </a:moveTo>
                <a:lnTo>
                  <a:pt x="189443" y="0"/>
                </a:lnTo>
                <a:quadBezTo>
                  <a:pt x="257175" y="0"/>
                  <a:pt x="257175" y="67732"/>
                </a:quadBezTo>
                <a:lnTo>
                  <a:pt x="257175" y="189443"/>
                </a:lnTo>
                <a:quadBezTo>
                  <a:pt x="257175" y="257175"/>
                  <a:pt x="189443" y="257175"/>
                </a:quadBezTo>
                <a:lnTo>
                  <a:pt x="67732" y="257175"/>
                </a:lnTo>
                <a:quadBezTo>
                  <a:pt x="0" y="257175"/>
                  <a:pt x="0" y="189443"/>
                </a:quadBezTo>
                <a:lnTo>
                  <a:pt x="0" y="67732"/>
                </a:lnTo>
                <a:quadBezTo>
                  <a:pt x="0" y="0"/>
                  <a:pt x="67732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19125" y="2781598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636" y="2833985"/>
            <a:ext cx="152400" cy="1524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19898" y="3038058"/>
            <a:ext cx="1376363" cy="323850"/>
          </a:xfrm>
          <a:custGeom>
            <a:avLst/>
            <a:gdLst/>
            <a:ahLst/>
            <a:cxnLst/>
            <a:rect l="l" t="t" r="r" b="b"/>
            <a:pathLst>
              <a:path w="1376363" h="323850">
                <a:moveTo>
                  <a:pt x="0" y="0"/>
                </a:moveTo>
                <a:lnTo>
                  <a:pt x="1376363" y="0"/>
                </a:lnTo>
                <a:lnTo>
                  <a:pt x="1376363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619898" y="3038058"/>
            <a:ext cx="137636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 daily meals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9898" y="3404949"/>
            <a:ext cx="1376363" cy="271463"/>
          </a:xfrm>
          <a:custGeom>
            <a:avLst/>
            <a:gdLst/>
            <a:ahLst/>
            <a:cxnLst/>
            <a:rect l="l" t="t" r="r" b="b"/>
            <a:pathLst>
              <a:path w="1376363" h="271463">
                <a:moveTo>
                  <a:pt x="0" y="0"/>
                </a:moveTo>
                <a:lnTo>
                  <a:pt x="1376363" y="0"/>
                </a:lnTo>
                <a:lnTo>
                  <a:pt x="1376363" y="271463"/>
                </a:lnTo>
                <a:lnTo>
                  <a:pt x="0" y="271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19898" y="3404949"/>
            <a:ext cx="137636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enters meals for each day.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311" y="3067348"/>
            <a:ext cx="161925" cy="16192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569340" y="2619673"/>
            <a:ext cx="1738312" cy="1057275"/>
          </a:xfrm>
          <a:custGeom>
            <a:avLst/>
            <a:gdLst/>
            <a:ahLst/>
            <a:cxnLst/>
            <a:rect l="l" t="t" r="r" b="b"/>
            <a:pathLst>
              <a:path w="1738312" h="1057275">
                <a:moveTo>
                  <a:pt x="115328" y="0"/>
                </a:moveTo>
                <a:lnTo>
                  <a:pt x="1622985" y="0"/>
                </a:lnTo>
                <a:quadBezTo>
                  <a:pt x="1738312" y="0"/>
                  <a:pt x="1738312" y="115328"/>
                </a:quadBezTo>
                <a:lnTo>
                  <a:pt x="1738312" y="941947"/>
                </a:lnTo>
                <a:quadBezTo>
                  <a:pt x="1738312" y="1057275"/>
                  <a:pt x="1622985" y="1057275"/>
                </a:quadBezTo>
                <a:lnTo>
                  <a:pt x="115328" y="1057275"/>
                </a:lnTo>
                <a:quadBezTo>
                  <a:pt x="0" y="1057275"/>
                  <a:pt x="0" y="941947"/>
                </a:quadBezTo>
                <a:lnTo>
                  <a:pt x="0" y="115328"/>
                </a:lnTo>
                <a:quadBezTo>
                  <a:pt x="0" y="0"/>
                  <a:pt x="115328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2749511" y="2781598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67732" y="0"/>
                </a:moveTo>
                <a:lnTo>
                  <a:pt x="189443" y="0"/>
                </a:lnTo>
                <a:quadBezTo>
                  <a:pt x="257175" y="0"/>
                  <a:pt x="257175" y="67732"/>
                </a:quadBezTo>
                <a:lnTo>
                  <a:pt x="257175" y="189443"/>
                </a:lnTo>
                <a:quadBezTo>
                  <a:pt x="257175" y="257175"/>
                  <a:pt x="189443" y="257175"/>
                </a:quadBezTo>
                <a:lnTo>
                  <a:pt x="67732" y="257175"/>
                </a:lnTo>
                <a:quadBezTo>
                  <a:pt x="0" y="257175"/>
                  <a:pt x="0" y="189443"/>
                </a:quadBezTo>
                <a:lnTo>
                  <a:pt x="0" y="67732"/>
                </a:lnTo>
                <a:quadBezTo>
                  <a:pt x="0" y="0"/>
                  <a:pt x="67732" y="0"/>
                </a:quadBezTo>
                <a:close/>
              </a:path>
            </a:pathLst>
          </a:custGeom>
          <a:solidFill>
            <a:srgbClr val="2E5E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2749511" y="2781598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078" y="2833985"/>
            <a:ext cx="152400" cy="1524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2750315" y="3038296"/>
            <a:ext cx="1376363" cy="176212"/>
          </a:xfrm>
          <a:custGeom>
            <a:avLst/>
            <a:gdLst/>
            <a:ahLst/>
            <a:cxnLst/>
            <a:rect l="l" t="t" r="r" b="b"/>
            <a:pathLst>
              <a:path w="1376363" h="176212">
                <a:moveTo>
                  <a:pt x="0" y="0"/>
                </a:moveTo>
                <a:lnTo>
                  <a:pt x="1376363" y="0"/>
                </a:lnTo>
                <a:lnTo>
                  <a:pt x="1376363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2750315" y="3038296"/>
            <a:ext cx="1376363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Store the plan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750315" y="3255943"/>
            <a:ext cx="1376363" cy="447675"/>
          </a:xfrm>
          <a:custGeom>
            <a:avLst/>
            <a:gdLst/>
            <a:ahLst/>
            <a:cxnLst/>
            <a:rect l="l" t="t" r="r" b="b"/>
            <a:pathLst>
              <a:path w="1376363" h="447675">
                <a:moveTo>
                  <a:pt x="0" y="0"/>
                </a:moveTo>
                <a:lnTo>
                  <a:pt x="1376363" y="0"/>
                </a:lnTo>
                <a:lnTo>
                  <a:pt x="1376363" y="447675"/>
                </a:lnTo>
                <a:lnTo>
                  <a:pt x="0" y="4476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2750315" y="3255943"/>
            <a:ext cx="1376363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Meals are organized in an ArrayList and HashMap.</a:t>
            </a:r>
            <a:endParaRPr lang="en-US" sz="9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753" y="3067348"/>
            <a:ext cx="161925" cy="161925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4699782" y="2619673"/>
            <a:ext cx="1738312" cy="1057275"/>
          </a:xfrm>
          <a:custGeom>
            <a:avLst/>
            <a:gdLst/>
            <a:ahLst/>
            <a:cxnLst/>
            <a:rect l="l" t="t" r="r" b="b"/>
            <a:pathLst>
              <a:path w="1738312" h="1057275">
                <a:moveTo>
                  <a:pt x="115328" y="0"/>
                </a:moveTo>
                <a:lnTo>
                  <a:pt x="1622985" y="0"/>
                </a:lnTo>
                <a:quadBezTo>
                  <a:pt x="1738312" y="0"/>
                  <a:pt x="1738312" y="115328"/>
                </a:quadBezTo>
                <a:lnTo>
                  <a:pt x="1738312" y="941947"/>
                </a:lnTo>
                <a:quadBezTo>
                  <a:pt x="1738312" y="1057275"/>
                  <a:pt x="1622985" y="1057275"/>
                </a:quadBezTo>
                <a:lnTo>
                  <a:pt x="115328" y="1057275"/>
                </a:lnTo>
                <a:quadBezTo>
                  <a:pt x="0" y="1057275"/>
                  <a:pt x="0" y="941947"/>
                </a:quadBezTo>
                <a:lnTo>
                  <a:pt x="0" y="115328"/>
                </a:lnTo>
                <a:quadBezTo>
                  <a:pt x="0" y="0"/>
                  <a:pt x="115328" y="0"/>
                </a:quadBezTo>
                <a:close/>
              </a:path>
            </a:pathLst>
          </a:custGeom>
          <a:solidFill>
            <a:srgbClr val="FF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4879953" y="2781598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67732" y="0"/>
                </a:moveTo>
                <a:lnTo>
                  <a:pt x="189443" y="0"/>
                </a:lnTo>
                <a:quadBezTo>
                  <a:pt x="257175" y="0"/>
                  <a:pt x="257175" y="67732"/>
                </a:quadBezTo>
                <a:lnTo>
                  <a:pt x="257175" y="189443"/>
                </a:lnTo>
                <a:quadBezTo>
                  <a:pt x="257175" y="257175"/>
                  <a:pt x="189443" y="257175"/>
                </a:quadBezTo>
                <a:lnTo>
                  <a:pt x="67732" y="257175"/>
                </a:lnTo>
                <a:quadBezTo>
                  <a:pt x="0" y="257175"/>
                  <a:pt x="0" y="189443"/>
                </a:quadBezTo>
                <a:lnTo>
                  <a:pt x="0" y="67732"/>
                </a:lnTo>
                <a:quadBezTo>
                  <a:pt x="0" y="0"/>
                  <a:pt x="67732" y="0"/>
                </a:quadBezTo>
                <a:close/>
              </a:path>
            </a:pathLst>
          </a:custGeom>
          <a:solidFill>
            <a:srgbClr val="E98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/>
          <p:nvPr/>
        </p:nvSpPr>
        <p:spPr>
          <a:xfrm>
            <a:off x="4879953" y="2781598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525" y="2833985"/>
            <a:ext cx="152400" cy="15240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4880757" y="3038296"/>
            <a:ext cx="1376363" cy="176212"/>
          </a:xfrm>
          <a:custGeom>
            <a:avLst/>
            <a:gdLst/>
            <a:ahLst/>
            <a:cxnLst/>
            <a:rect l="l" t="t" r="r" b="b"/>
            <a:pathLst>
              <a:path w="1376363" h="176212">
                <a:moveTo>
                  <a:pt x="0" y="0"/>
                </a:moveTo>
                <a:lnTo>
                  <a:pt x="1376363" y="0"/>
                </a:lnTo>
                <a:lnTo>
                  <a:pt x="1376363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/>
          <p:nvPr/>
        </p:nvSpPr>
        <p:spPr>
          <a:xfrm>
            <a:off x="4880757" y="3038296"/>
            <a:ext cx="1376363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the output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880757" y="3255943"/>
            <a:ext cx="1376363" cy="447675"/>
          </a:xfrm>
          <a:custGeom>
            <a:avLst/>
            <a:gdLst/>
            <a:ahLst/>
            <a:cxnLst/>
            <a:rect l="l" t="t" r="r" b="b"/>
            <a:pathLst>
              <a:path w="1376363" h="447675">
                <a:moveTo>
                  <a:pt x="0" y="0"/>
                </a:moveTo>
                <a:lnTo>
                  <a:pt x="1376363" y="0"/>
                </a:lnTo>
                <a:lnTo>
                  <a:pt x="1376363" y="447675"/>
                </a:lnTo>
                <a:lnTo>
                  <a:pt x="0" y="4476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8"/>
          <p:cNvSpPr/>
          <p:nvPr/>
        </p:nvSpPr>
        <p:spPr>
          <a:xfrm>
            <a:off x="4880757" y="3255943"/>
            <a:ext cx="1376363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Display the weekly plan and merge duplicate ingredients.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438150" y="3809107"/>
            <a:ext cx="4714875" cy="366712"/>
          </a:xfrm>
          <a:custGeom>
            <a:avLst/>
            <a:gdLst/>
            <a:ahLst/>
            <a:cxnLst/>
            <a:rect l="l" t="t" r="r" b="b"/>
            <a:pathLst>
              <a:path w="4714875" h="366712">
                <a:moveTo>
                  <a:pt x="59378" y="0"/>
                </a:moveTo>
                <a:lnTo>
                  <a:pt x="4655497" y="0"/>
                </a:lnTo>
                <a:quadBezTo>
                  <a:pt x="4714875" y="0"/>
                  <a:pt x="4714875" y="59378"/>
                </a:quadBezTo>
                <a:lnTo>
                  <a:pt x="4714875" y="307334"/>
                </a:lnTo>
                <a:quadBezTo>
                  <a:pt x="4714875" y="366712"/>
                  <a:pt x="4655497" y="366712"/>
                </a:quadBezTo>
                <a:lnTo>
                  <a:pt x="59378" y="366712"/>
                </a:lnTo>
                <a:quadBezTo>
                  <a:pt x="0" y="366712"/>
                  <a:pt x="0" y="307334"/>
                </a:quadBezTo>
                <a:lnTo>
                  <a:pt x="0" y="59378"/>
                </a:lnTo>
                <a:quadBezTo>
                  <a:pt x="0" y="0"/>
                  <a:pt x="59378" y="0"/>
                </a:quadBezTo>
                <a:close/>
              </a:path>
            </a:pathLst>
          </a:custGeom>
          <a:solidFill>
            <a:srgbClr val="2E5E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21026"/>
            <a:ext cx="142875" cy="142875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800904" y="3913882"/>
            <a:ext cx="3452813" cy="157163"/>
          </a:xfrm>
          <a:custGeom>
            <a:avLst/>
            <a:gdLst/>
            <a:ahLst/>
            <a:cxnLst/>
            <a:rect l="l" t="t" r="r" b="b"/>
            <a:pathLst>
              <a:path w="3452813" h="157163">
                <a:moveTo>
                  <a:pt x="0" y="0"/>
                </a:moveTo>
                <a:lnTo>
                  <a:pt x="3452813" y="0"/>
                </a:lnTo>
                <a:lnTo>
                  <a:pt x="3452813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1"/>
          <p:cNvSpPr/>
          <p:nvPr/>
        </p:nvSpPr>
        <p:spPr>
          <a:xfrm>
            <a:off x="800904" y="3913882"/>
            <a:ext cx="34528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result: one clear plan, with a cleaner ingredient list.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6705600" y="1994624"/>
            <a:ext cx="2000250" cy="2805112"/>
          </a:xfrm>
          <a:custGeom>
            <a:avLst/>
            <a:gdLst/>
            <a:ahLst/>
            <a:cxnLst/>
            <a:rect l="l" t="t" r="r" b="b"/>
            <a:pathLst>
              <a:path w="2000250" h="2805112">
                <a:moveTo>
                  <a:pt x="69669" y="0"/>
                </a:moveTo>
                <a:lnTo>
                  <a:pt x="1930581" y="0"/>
                </a:lnTo>
                <a:quadBezTo>
                  <a:pt x="2000250" y="0"/>
                  <a:pt x="2000250" y="69669"/>
                </a:quadBezTo>
                <a:lnTo>
                  <a:pt x="2000250" y="2735444"/>
                </a:lnTo>
                <a:quadBezTo>
                  <a:pt x="2000250" y="2805112"/>
                  <a:pt x="1930581" y="2805112"/>
                </a:quadBezTo>
                <a:lnTo>
                  <a:pt x="69669" y="2805112"/>
                </a:lnTo>
                <a:quadBezTo>
                  <a:pt x="0" y="2805112"/>
                  <a:pt x="0" y="2735444"/>
                </a:quadBezTo>
                <a:lnTo>
                  <a:pt x="0" y="69669"/>
                </a:lnTo>
                <a:quadBezTo>
                  <a:pt x="0" y="0"/>
                  <a:pt x="69669" y="0"/>
                </a:quadBezTo>
                <a:close/>
              </a:path>
            </a:pathLst>
          </a:custGeom>
          <a:solidFill>
            <a:srgbClr val="2E5E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6905625" y="2212360"/>
            <a:ext cx="1600200" cy="252412"/>
          </a:xfrm>
          <a:custGeom>
            <a:avLst/>
            <a:gdLst/>
            <a:ahLst/>
            <a:cxnLst/>
            <a:rect l="l" t="t" r="r" b="b"/>
            <a:pathLst>
              <a:path w="1600200" h="252412">
                <a:moveTo>
                  <a:pt x="0" y="0"/>
                </a:moveTo>
                <a:lnTo>
                  <a:pt x="1600200" y="0"/>
                </a:lnTo>
                <a:lnTo>
                  <a:pt x="1600200" y="252412"/>
                </a:lnTo>
                <a:lnTo>
                  <a:pt x="0" y="2524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4"/>
          <p:cNvSpPr/>
          <p:nvPr/>
        </p:nvSpPr>
        <p:spPr>
          <a:xfrm>
            <a:off x="6905625" y="2212360"/>
            <a:ext cx="1600200" cy="252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C9D6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AT A GLANCE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7138987" y="2560439"/>
            <a:ext cx="1133475" cy="1133475"/>
          </a:xfrm>
          <a:custGeom>
            <a:avLst/>
            <a:gdLst/>
            <a:ahLst/>
            <a:cxnLst/>
            <a:rect l="l" t="t" r="r" b="b"/>
            <a:pathLst>
              <a:path w="1133475" h="1133475">
                <a:moveTo>
                  <a:pt x="0" y="566738"/>
                </a:moveTo>
                <a:cubicBezTo>
                  <a:pt x="0" y="879738"/>
                  <a:pt x="253737" y="1133475"/>
                  <a:pt x="566738" y="1133475"/>
                </a:cubicBezTo>
                <a:cubicBezTo>
                  <a:pt x="879738" y="1133475"/>
                  <a:pt x="1133475" y="879738"/>
                  <a:pt x="1133475" y="566738"/>
                </a:cubicBezTo>
                <a:cubicBezTo>
                  <a:pt x="1133475" y="253737"/>
                  <a:pt x="879738" y="0"/>
                  <a:pt x="566738" y="0"/>
                </a:cubicBezTo>
                <a:cubicBezTo>
                  <a:pt x="253737" y="0"/>
                  <a:pt x="0" y="253737"/>
                  <a:pt x="0" y="566737"/>
                </a:cubic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9025" y="2860477"/>
            <a:ext cx="533400" cy="533400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6905625" y="3790950"/>
            <a:ext cx="1600200" cy="414338"/>
          </a:xfrm>
          <a:custGeom>
            <a:avLst/>
            <a:gdLst/>
            <a:ahLst/>
            <a:cxnLst/>
            <a:rect l="l" t="t" r="r" b="b"/>
            <a:pathLst>
              <a:path w="1600200" h="414338">
                <a:moveTo>
                  <a:pt x="0" y="0"/>
                </a:moveTo>
                <a:lnTo>
                  <a:pt x="1600200" y="0"/>
                </a:lnTo>
                <a:lnTo>
                  <a:pt x="1600200" y="414338"/>
                </a:lnTo>
                <a:lnTo>
                  <a:pt x="0" y="4143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37"/>
          <p:cNvSpPr/>
          <p:nvPr/>
        </p:nvSpPr>
        <p:spPr>
          <a:xfrm>
            <a:off x="6905625" y="3790950"/>
            <a:ext cx="16002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783"/>
              </a:lnSpc>
              <a:spcBef>
                <a:spcPts val="523"/>
              </a:spcBef>
              <a:buNone/>
            </a:pPr>
            <a:r>
              <a:rPr lang="en-US" sz="14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once.</a:t>
            </a:r>
            <a:endParaRPr lang="en-US" sz="900" dirty="0"/>
          </a:p>
          <a:p>
            <a:pPr marL="0" indent="0" algn="ctr">
              <a:lnSpc>
                <a:spcPct val="94783"/>
              </a:lnSpc>
              <a:spcBef>
                <a:spcPts val="523"/>
              </a:spcBef>
              <a:buNone/>
            </a:pPr>
            <a:r>
              <a:rPr lang="en-US" sz="14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Shop smarter.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6905625" y="4272439"/>
            <a:ext cx="1600200" cy="309562"/>
          </a:xfrm>
          <a:custGeom>
            <a:avLst/>
            <a:gdLst/>
            <a:ahLst/>
            <a:cxnLst/>
            <a:rect l="l" t="t" r="r" b="b"/>
            <a:pathLst>
              <a:path w="1600200" h="309562">
                <a:moveTo>
                  <a:pt x="0" y="0"/>
                </a:moveTo>
                <a:lnTo>
                  <a:pt x="1600200" y="0"/>
                </a:lnTo>
                <a:lnTo>
                  <a:pt x="1600200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39"/>
          <p:cNvSpPr/>
          <p:nvPr/>
        </p:nvSpPr>
        <p:spPr>
          <a:xfrm>
            <a:off x="6905625" y="4272439"/>
            <a:ext cx="1600200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C9D6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data keeps the kitchen workflow practical.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38120" y="370999"/>
            <a:ext cx="5224462" cy="138113"/>
          </a:xfrm>
          <a:custGeom>
            <a:avLst/>
            <a:gdLst/>
            <a:ahLst/>
            <a:cxnLst/>
            <a:rect l="l" t="t" r="r" b="b"/>
            <a:pathLst>
              <a:path w="5224462" h="138113">
                <a:moveTo>
                  <a:pt x="0" y="0"/>
                </a:moveTo>
                <a:lnTo>
                  <a:pt x="5224462" y="0"/>
                </a:lnTo>
                <a:lnTo>
                  <a:pt x="5224462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38120" y="370999"/>
            <a:ext cx="522446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7A9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MEAL PLANNER · SAMPLE RUN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20" y="576351"/>
            <a:ext cx="5224462" cy="347663"/>
          </a:xfrm>
          <a:custGeom>
            <a:avLst/>
            <a:gdLst/>
            <a:ahLst/>
            <a:cxnLst/>
            <a:rect l="l" t="t" r="r" b="b"/>
            <a:pathLst>
              <a:path w="5224462" h="347663">
                <a:moveTo>
                  <a:pt x="0" y="0"/>
                </a:moveTo>
                <a:lnTo>
                  <a:pt x="5224462" y="0"/>
                </a:lnTo>
                <a:lnTo>
                  <a:pt x="5224462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38120" y="576351"/>
            <a:ext cx="5224462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Sample Console Output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20" y="990542"/>
            <a:ext cx="5224462" cy="195263"/>
          </a:xfrm>
          <a:custGeom>
            <a:avLst/>
            <a:gdLst/>
            <a:ahLst/>
            <a:cxnLst/>
            <a:rect l="l" t="t" r="r" b="b"/>
            <a:pathLst>
              <a:path w="5224462" h="195263">
                <a:moveTo>
                  <a:pt x="0" y="0"/>
                </a:moveTo>
                <a:lnTo>
                  <a:pt x="5224462" y="0"/>
                </a:lnTo>
                <a:lnTo>
                  <a:pt x="5224462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38120" y="990542"/>
            <a:ext cx="522446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simple terminal flow turns meal choices into a ready-to-use grocery list.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172450" y="4095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28599" y="0"/>
                </a:moveTo>
                <a:lnTo>
                  <a:pt x="304801" y="0"/>
                </a:lnTo>
                <a:quadBezTo>
                  <a:pt x="533400" y="0"/>
                  <a:pt x="533400" y="228599"/>
                </a:quadBezTo>
                <a:lnTo>
                  <a:pt x="533400" y="304801"/>
                </a:lnTo>
                <a:quadBezTo>
                  <a:pt x="533400" y="533400"/>
                  <a:pt x="304801" y="533400"/>
                </a:quadBezTo>
                <a:lnTo>
                  <a:pt x="228599" y="533400"/>
                </a:lnTo>
                <a:quadBezTo>
                  <a:pt x="0" y="533400"/>
                  <a:pt x="0" y="304801"/>
                </a:quadBezTo>
                <a:lnTo>
                  <a:pt x="0" y="228599"/>
                </a:lnTo>
                <a:quadBezTo>
                  <a:pt x="0" y="0"/>
                  <a:pt x="228599" y="0"/>
                </a:quadBezTo>
                <a:close/>
              </a:path>
            </a:pathLst>
          </a:custGeom>
          <a:solidFill>
            <a:srgbClr val="2E5E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5" y="552450"/>
            <a:ext cx="247650" cy="2476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8150" y="1728163"/>
            <a:ext cx="6181725" cy="3071813"/>
          </a:xfrm>
          <a:custGeom>
            <a:avLst/>
            <a:gdLst/>
            <a:ahLst/>
            <a:cxnLst/>
            <a:rect l="l" t="t" r="r" b="b"/>
            <a:pathLst>
              <a:path w="6181725" h="3071813">
                <a:moveTo>
                  <a:pt x="39688" y="0"/>
                </a:moveTo>
                <a:lnTo>
                  <a:pt x="6142037" y="0"/>
                </a:lnTo>
                <a:quadBezTo>
                  <a:pt x="6181725" y="0"/>
                  <a:pt x="6181725" y="39688"/>
                </a:quadBezTo>
                <a:lnTo>
                  <a:pt x="6181725" y="3032125"/>
                </a:lnTo>
                <a:quadBezTo>
                  <a:pt x="6181725" y="3071813"/>
                  <a:pt x="6142037" y="3071813"/>
                </a:quadBezTo>
                <a:lnTo>
                  <a:pt x="39688" y="3071813"/>
                </a:lnTo>
                <a:quadBezTo>
                  <a:pt x="0" y="3071813"/>
                  <a:pt x="0" y="3032125"/>
                </a:quadBezTo>
                <a:lnTo>
                  <a:pt x="0" y="39688"/>
                </a:lnTo>
                <a:quadBezTo>
                  <a:pt x="0" y="0"/>
                  <a:pt x="39688" y="0"/>
                </a:quadBezTo>
                <a:close/>
              </a:path>
            </a:pathLst>
          </a:custGeom>
          <a:solidFill>
            <a:srgbClr val="1F2D24"/>
          </a:solidFill>
          <a:ln/>
          <a:effectLst>
            <a:outerShdw blurRad="190500" dist="85725" dir="2700000" algn="bl" rotWithShape="0">
              <a:srgbClr val="2E5E3A">
                <a:alpha val="12157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14375" y="1966197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E98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56178" y="1956703"/>
            <a:ext cx="1000125" cy="85725"/>
          </a:xfrm>
          <a:custGeom>
            <a:avLst/>
            <a:gdLst/>
            <a:ahLst/>
            <a:cxnLst/>
            <a:rect l="l" t="t" r="r" b="b"/>
            <a:pathLst>
              <a:path w="1000125" h="85725">
                <a:moveTo>
                  <a:pt x="0" y="0"/>
                </a:moveTo>
                <a:lnTo>
                  <a:pt x="1000125" y="0"/>
                </a:lnTo>
                <a:lnTo>
                  <a:pt x="1000125" y="85725"/>
                </a:lnTo>
                <a:lnTo>
                  <a:pt x="0" y="857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856178" y="1956703"/>
            <a:ext cx="1000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9130"/>
              </a:lnSpc>
              <a:spcBef>
                <a:spcPts val="281"/>
              </a:spcBef>
              <a:buNone/>
            </a:pPr>
            <a:r>
              <a:rPr lang="en-US" sz="602" dirty="0">
                <a:solidFill>
                  <a:srgbClr val="C9D6B5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grocery-planner.exe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14375" y="2176403"/>
            <a:ext cx="5629275" cy="2414588"/>
          </a:xfrm>
          <a:custGeom>
            <a:avLst/>
            <a:gdLst/>
            <a:ahLst/>
            <a:cxnLst/>
            <a:rect l="l" t="t" r="r" b="b"/>
            <a:pathLst>
              <a:path w="5629275" h="2414588">
                <a:moveTo>
                  <a:pt x="0" y="0"/>
                </a:moveTo>
                <a:lnTo>
                  <a:pt x="5629275" y="0"/>
                </a:lnTo>
                <a:lnTo>
                  <a:pt x="5629275" y="2414588"/>
                </a:lnTo>
                <a:lnTo>
                  <a:pt x="0" y="24145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714375" y="2176403"/>
            <a:ext cx="5629275" cy="2414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===== Weekly Meal Planner ===== Enter meal for Monday: </a:t>
            </a:r>
            <a:r>
              <a:rPr lang="en-US" sz="698" dirty="0">
                <a:solidFill>
                  <a:srgbClr val="C9D6B5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Pasta with Tomato Sauce</a:t>
            </a:r>
            <a:r>
              <a:rPr lang="en-US" sz="799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Ingredients: </a:t>
            </a:r>
            <a:r>
              <a:rPr lang="en-US" sz="698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pasta, tomato sauce, garlic</a:t>
            </a:r>
            <a:r>
              <a:rPr lang="en-US" sz="799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Enter meal for Tuesday: </a:t>
            </a:r>
            <a:r>
              <a:rPr lang="en-US" sz="698" dirty="0">
                <a:solidFill>
                  <a:srgbClr val="C9D6B5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Grilled Chicken &amp; Rice</a:t>
            </a:r>
            <a:r>
              <a:rPr lang="en-US" sz="799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Ingredients: </a:t>
            </a:r>
            <a:r>
              <a:rPr lang="en-US" sz="698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chicken, rice, garlic</a:t>
            </a:r>
            <a:r>
              <a:rPr lang="en-US" sz="799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... ===== Weekly Grocery List ===== - pasta - tomato sauce - garlic </a:t>
            </a:r>
            <a:r>
              <a:rPr lang="en-US" sz="698" dirty="0">
                <a:solidFill>
                  <a:srgbClr val="E98B39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(x2)</a:t>
            </a:r>
            <a:r>
              <a:rPr lang="en-US" sz="799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- chicken - rice </a:t>
            </a:r>
            <a:r>
              <a:rPr lang="en-US" sz="698" dirty="0">
                <a:solidFill>
                  <a:srgbClr val="C9D6B5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Grocery list saved to grocerylist.txt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848475" y="1728163"/>
            <a:ext cx="1857375" cy="3071813"/>
          </a:xfrm>
          <a:custGeom>
            <a:avLst/>
            <a:gdLst/>
            <a:ahLst/>
            <a:cxnLst/>
            <a:rect l="l" t="t" r="r" b="b"/>
            <a:pathLst>
              <a:path w="1857375" h="3071813">
                <a:moveTo>
                  <a:pt x="65658" y="0"/>
                </a:moveTo>
                <a:lnTo>
                  <a:pt x="1791717" y="0"/>
                </a:lnTo>
                <a:quadBezTo>
                  <a:pt x="1857375" y="0"/>
                  <a:pt x="1857375" y="65658"/>
                </a:quadBezTo>
                <a:lnTo>
                  <a:pt x="1857375" y="3006154"/>
                </a:lnTo>
                <a:quadBezTo>
                  <a:pt x="1857375" y="3071813"/>
                  <a:pt x="1791717" y="3071813"/>
                </a:quadBezTo>
                <a:lnTo>
                  <a:pt x="65658" y="3071813"/>
                </a:lnTo>
                <a:quadBezTo>
                  <a:pt x="0" y="3071813"/>
                  <a:pt x="0" y="3006154"/>
                </a:quadBezTo>
                <a:lnTo>
                  <a:pt x="0" y="65658"/>
                </a:lnTo>
                <a:quadBezTo>
                  <a:pt x="0" y="0"/>
                  <a:pt x="65658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7029450" y="1928514"/>
            <a:ext cx="1495425" cy="123825"/>
          </a:xfrm>
          <a:custGeom>
            <a:avLst/>
            <a:gdLst/>
            <a:ahLst/>
            <a:cxnLst/>
            <a:rect l="l" t="t" r="r" b="b"/>
            <a:pathLst>
              <a:path w="1495425" h="123825">
                <a:moveTo>
                  <a:pt x="0" y="0"/>
                </a:moveTo>
                <a:lnTo>
                  <a:pt x="1495425" y="0"/>
                </a:lnTo>
                <a:lnTo>
                  <a:pt x="149542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7029450" y="1928514"/>
            <a:ext cx="14954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RUN SHOWS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029450" y="2138124"/>
            <a:ext cx="1495425" cy="414338"/>
          </a:xfrm>
          <a:custGeom>
            <a:avLst/>
            <a:gdLst/>
            <a:ahLst/>
            <a:cxnLst/>
            <a:rect l="l" t="t" r="r" b="b"/>
            <a:pathLst>
              <a:path w="1495425" h="414338">
                <a:moveTo>
                  <a:pt x="0" y="0"/>
                </a:moveTo>
                <a:lnTo>
                  <a:pt x="1495425" y="0"/>
                </a:lnTo>
                <a:lnTo>
                  <a:pt x="1495425" y="414338"/>
                </a:lnTo>
                <a:lnTo>
                  <a:pt x="0" y="4143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7029450" y="2138124"/>
            <a:ext cx="14954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becomes action.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7029450" y="2636252"/>
            <a:ext cx="1495425" cy="881063"/>
          </a:xfrm>
          <a:custGeom>
            <a:avLst/>
            <a:gdLst/>
            <a:ahLst/>
            <a:cxnLst/>
            <a:rect l="l" t="t" r="r" b="b"/>
            <a:pathLst>
              <a:path w="1495425" h="881063">
                <a:moveTo>
                  <a:pt x="0" y="0"/>
                </a:moveTo>
                <a:lnTo>
                  <a:pt x="1495425" y="0"/>
                </a:lnTo>
                <a:lnTo>
                  <a:pt x="1495425" y="881063"/>
                </a:lnTo>
                <a:lnTo>
                  <a:pt x="0" y="8810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7029450" y="2636252"/>
            <a:ext cx="1495425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91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program collects meals, combines ingredients, and saves the final list for shopping.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7029450" y="3592116"/>
            <a:ext cx="1495425" cy="1009650"/>
          </a:xfrm>
          <a:custGeom>
            <a:avLst/>
            <a:gdLst/>
            <a:ahLst/>
            <a:cxnLst/>
            <a:rect l="l" t="t" r="r" b="b"/>
            <a:pathLst>
              <a:path w="1495425" h="1009650">
                <a:moveTo>
                  <a:pt x="0" y="0"/>
                </a:moveTo>
                <a:lnTo>
                  <a:pt x="1495425" y="0"/>
                </a:lnTo>
                <a:lnTo>
                  <a:pt x="1495425" y="1009650"/>
                </a:lnTo>
                <a:lnTo>
                  <a:pt x="0" y="10096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7029450" y="3735229"/>
            <a:ext cx="1495425" cy="123825"/>
          </a:xfrm>
          <a:custGeom>
            <a:avLst/>
            <a:gdLst/>
            <a:ahLst/>
            <a:cxnLst/>
            <a:rect l="l" t="t" r="r" b="b"/>
            <a:pathLst>
              <a:path w="1495425" h="123825">
                <a:moveTo>
                  <a:pt x="0" y="0"/>
                </a:moveTo>
                <a:lnTo>
                  <a:pt x="1495425" y="0"/>
                </a:lnTo>
                <a:lnTo>
                  <a:pt x="149542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7029450" y="3735229"/>
            <a:ext cx="14954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DETAIL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029450" y="3926919"/>
            <a:ext cx="1495425" cy="166688"/>
          </a:xfrm>
          <a:custGeom>
            <a:avLst/>
            <a:gdLst/>
            <a:ahLst/>
            <a:cxnLst/>
            <a:rect l="l" t="t" r="r" b="b"/>
            <a:pathLst>
              <a:path w="1495425" h="166688">
                <a:moveTo>
                  <a:pt x="0" y="0"/>
                </a:moveTo>
                <a:lnTo>
                  <a:pt x="1495425" y="0"/>
                </a:lnTo>
                <a:lnTo>
                  <a:pt x="1495425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7029450" y="3926919"/>
            <a:ext cx="149542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783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F2D24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garlic (x2)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7029450" y="4161473"/>
            <a:ext cx="1495425" cy="438150"/>
          </a:xfrm>
          <a:custGeom>
            <a:avLst/>
            <a:gdLst/>
            <a:ahLst/>
            <a:cxnLst/>
            <a:rect l="l" t="t" r="r" b="b"/>
            <a:pathLst>
              <a:path w="1495425" h="438150">
                <a:moveTo>
                  <a:pt x="0" y="0"/>
                </a:moveTo>
                <a:lnTo>
                  <a:pt x="1495425" y="0"/>
                </a:lnTo>
                <a:lnTo>
                  <a:pt x="1495425" y="438150"/>
                </a:lnTo>
                <a:lnTo>
                  <a:pt x="0" y="4381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7029450" y="4161473"/>
            <a:ext cx="14954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Repeated ingredients are counted once, with the quantity preserved.</a:t>
            </a:r>
            <a:endParaRPr lang="en-US" sz="9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450" y="3592116"/>
            <a:ext cx="1495425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56456" y="370999"/>
            <a:ext cx="1457325" cy="138113"/>
          </a:xfrm>
          <a:custGeom>
            <a:avLst/>
            <a:gdLst/>
            <a:ahLst/>
            <a:cxnLst/>
            <a:rect l="l" t="t" r="r" b="b"/>
            <a:pathLst>
              <a:path w="1457325" h="138113">
                <a:moveTo>
                  <a:pt x="0" y="0"/>
                </a:moveTo>
                <a:lnTo>
                  <a:pt x="1457325" y="0"/>
                </a:lnTo>
                <a:lnTo>
                  <a:pt x="14573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6456" y="370999"/>
            <a:ext cx="14573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7A9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081" y="585876"/>
            <a:ext cx="3400425" cy="347663"/>
          </a:xfrm>
          <a:custGeom>
            <a:avLst/>
            <a:gdLst/>
            <a:ahLst/>
            <a:cxnLst/>
            <a:rect l="l" t="t" r="r" b="b"/>
            <a:pathLst>
              <a:path w="3400425" h="347663">
                <a:moveTo>
                  <a:pt x="0" y="0"/>
                </a:moveTo>
                <a:lnTo>
                  <a:pt x="3400425" y="0"/>
                </a:lnTo>
                <a:lnTo>
                  <a:pt x="3400425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081" y="585876"/>
            <a:ext cx="3400425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&amp; Technologies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10782"/>
            <a:ext cx="4667250" cy="385763"/>
          </a:xfrm>
          <a:custGeom>
            <a:avLst/>
            <a:gdLst/>
            <a:ahLst/>
            <a:cxnLst/>
            <a:rect l="l" t="t" r="r" b="b"/>
            <a:pathLst>
              <a:path w="4667250" h="385763">
                <a:moveTo>
                  <a:pt x="0" y="0"/>
                </a:moveTo>
                <a:lnTo>
                  <a:pt x="4667250" y="0"/>
                </a:lnTo>
                <a:lnTo>
                  <a:pt x="46672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1307198"/>
            <a:ext cx="4667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practical toolkit for building, testing, and running the application.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6396" y="2005578"/>
            <a:ext cx="2605087" cy="2795588"/>
          </a:xfrm>
          <a:custGeom>
            <a:avLst/>
            <a:gdLst/>
            <a:ahLst/>
            <a:cxnLst/>
            <a:rect l="l" t="t" r="r" b="b"/>
            <a:pathLst>
              <a:path w="2605087" h="2795588">
                <a:moveTo>
                  <a:pt x="46813" y="0"/>
                </a:moveTo>
                <a:lnTo>
                  <a:pt x="2558274" y="0"/>
                </a:lnTo>
                <a:quadBezTo>
                  <a:pt x="2605087" y="0"/>
                  <a:pt x="2605087" y="46813"/>
                </a:quadBezTo>
                <a:lnTo>
                  <a:pt x="2605087" y="2748774"/>
                </a:lnTo>
                <a:quadBezTo>
                  <a:pt x="2605087" y="2795588"/>
                  <a:pt x="2558274" y="2795588"/>
                </a:quadBezTo>
                <a:lnTo>
                  <a:pt x="46813" y="2795588"/>
                </a:lnTo>
                <a:quadBezTo>
                  <a:pt x="0" y="2795588"/>
                  <a:pt x="0" y="2748774"/>
                </a:quadBezTo>
                <a:lnTo>
                  <a:pt x="0" y="46813"/>
                </a:lnTo>
                <a:quadBezTo>
                  <a:pt x="0" y="0"/>
                  <a:pt x="46813" y="0"/>
                </a:quadBezTo>
                <a:close/>
              </a:path>
            </a:pathLst>
          </a:custGeom>
          <a:solidFill>
            <a:srgbClr val="FFFFFF"/>
          </a:solidFill>
          <a:ln w="3786">
            <a:solidFill>
              <a:srgbClr val="E2EBDD"/>
            </a:solidFill>
            <a:prstDash val="solid"/>
          </a:ln>
          <a:effectLst>
            <a:outerShdw blurRad="142875" dist="66675" dir="2700000" algn="bl" rotWithShape="0">
              <a:srgbClr val="2E5E3A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70559" y="2238553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66175" y="0"/>
                </a:moveTo>
                <a:lnTo>
                  <a:pt x="295775" y="0"/>
                </a:lnTo>
                <a:quadBezTo>
                  <a:pt x="361950" y="0"/>
                  <a:pt x="361950" y="66175"/>
                </a:quadBezTo>
                <a:lnTo>
                  <a:pt x="361950" y="295775"/>
                </a:lnTo>
                <a:quadBezTo>
                  <a:pt x="361950" y="361950"/>
                  <a:pt x="295775" y="361950"/>
                </a:quadBezTo>
                <a:lnTo>
                  <a:pt x="66175" y="361950"/>
                </a:lnTo>
                <a:quadBezTo>
                  <a:pt x="0" y="361950"/>
                  <a:pt x="0" y="295775"/>
                </a:quadBezTo>
                <a:lnTo>
                  <a:pt x="0" y="66175"/>
                </a:lnTo>
                <a:quadBezTo>
                  <a:pt x="0" y="0"/>
                  <a:pt x="66175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47" y="2329042"/>
            <a:ext cx="180975" cy="1809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0709" y="2743855"/>
            <a:ext cx="2176462" cy="147637"/>
          </a:xfrm>
          <a:custGeom>
            <a:avLst/>
            <a:gdLst/>
            <a:ahLst/>
            <a:cxnLst/>
            <a:rect l="l" t="t" r="r" b="b"/>
            <a:pathLst>
              <a:path w="2176462" h="147637">
                <a:moveTo>
                  <a:pt x="0" y="0"/>
                </a:moveTo>
                <a:lnTo>
                  <a:pt x="2176462" y="0"/>
                </a:lnTo>
                <a:lnTo>
                  <a:pt x="2176462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670709" y="2743855"/>
            <a:ext cx="2176462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70709" y="3034367"/>
            <a:ext cx="2176462" cy="280987"/>
          </a:xfrm>
          <a:custGeom>
            <a:avLst/>
            <a:gdLst/>
            <a:ahLst/>
            <a:cxnLst/>
            <a:rect l="l" t="t" r="r" b="b"/>
            <a:pathLst>
              <a:path w="2176462" h="280987">
                <a:moveTo>
                  <a:pt x="0" y="0"/>
                </a:moveTo>
                <a:lnTo>
                  <a:pt x="2176462" y="0"/>
                </a:lnTo>
                <a:lnTo>
                  <a:pt x="2176462" y="280987"/>
                </a:lnTo>
                <a:lnTo>
                  <a:pt x="0" y="2809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70709" y="3034367"/>
            <a:ext cx="2176462" cy="2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lang="en-US" sz="2098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JDK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70559" y="4416266"/>
            <a:ext cx="1857375" cy="180975"/>
          </a:xfrm>
          <a:custGeom>
            <a:avLst/>
            <a:gdLst/>
            <a:ahLst/>
            <a:cxnLst/>
            <a:rect l="l" t="t" r="r" b="b"/>
            <a:pathLst>
              <a:path w="1857375" h="180975">
                <a:moveTo>
                  <a:pt x="0" y="0"/>
                </a:moveTo>
                <a:lnTo>
                  <a:pt x="1857375" y="0"/>
                </a:lnTo>
                <a:lnTo>
                  <a:pt x="18573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670559" y="4416266"/>
            <a:ext cx="18573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 JDK for development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269425" y="2005578"/>
            <a:ext cx="2605087" cy="2795588"/>
          </a:xfrm>
          <a:custGeom>
            <a:avLst/>
            <a:gdLst/>
            <a:ahLst/>
            <a:cxnLst/>
            <a:rect l="l" t="t" r="r" b="b"/>
            <a:pathLst>
              <a:path w="2605087" h="2795588">
                <a:moveTo>
                  <a:pt x="46813" y="0"/>
                </a:moveTo>
                <a:lnTo>
                  <a:pt x="2558274" y="0"/>
                </a:lnTo>
                <a:quadBezTo>
                  <a:pt x="2605087" y="0"/>
                  <a:pt x="2605087" y="46813"/>
                </a:quadBezTo>
                <a:lnTo>
                  <a:pt x="2605087" y="2748774"/>
                </a:lnTo>
                <a:quadBezTo>
                  <a:pt x="2605087" y="2795588"/>
                  <a:pt x="2558274" y="2795588"/>
                </a:quadBezTo>
                <a:lnTo>
                  <a:pt x="46813" y="2795588"/>
                </a:lnTo>
                <a:quadBezTo>
                  <a:pt x="0" y="2795588"/>
                  <a:pt x="0" y="2748774"/>
                </a:quadBezTo>
                <a:lnTo>
                  <a:pt x="0" y="46813"/>
                </a:lnTo>
                <a:quadBezTo>
                  <a:pt x="0" y="0"/>
                  <a:pt x="46813" y="0"/>
                </a:quadBezTo>
                <a:close/>
              </a:path>
            </a:pathLst>
          </a:custGeom>
          <a:solidFill>
            <a:srgbClr val="EAF3E3"/>
          </a:solidFill>
          <a:ln/>
          <a:effectLst>
            <a:outerShdw blurRad="142875" dist="66675" dir="2700000" algn="bl" rotWithShape="0">
              <a:srgbClr val="2E5E3A">
                <a:alpha val="7843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3479778" y="2234744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66175" y="0"/>
                </a:moveTo>
                <a:lnTo>
                  <a:pt x="295775" y="0"/>
                </a:lnTo>
                <a:quadBezTo>
                  <a:pt x="361950" y="0"/>
                  <a:pt x="361950" y="66175"/>
                </a:quadBezTo>
                <a:lnTo>
                  <a:pt x="361950" y="295775"/>
                </a:lnTo>
                <a:quadBezTo>
                  <a:pt x="361950" y="361950"/>
                  <a:pt x="295775" y="361950"/>
                </a:quadBezTo>
                <a:lnTo>
                  <a:pt x="66175" y="361950"/>
                </a:lnTo>
                <a:quadBezTo>
                  <a:pt x="0" y="361950"/>
                  <a:pt x="0" y="295775"/>
                </a:quadBezTo>
                <a:lnTo>
                  <a:pt x="0" y="66175"/>
                </a:lnTo>
                <a:quadBezTo>
                  <a:pt x="0" y="0"/>
                  <a:pt x="66175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266" y="2325232"/>
            <a:ext cx="180975" cy="18097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478975" y="2740045"/>
            <a:ext cx="2185988" cy="147637"/>
          </a:xfrm>
          <a:custGeom>
            <a:avLst/>
            <a:gdLst/>
            <a:ahLst/>
            <a:cxnLst/>
            <a:rect l="l" t="t" r="r" b="b"/>
            <a:pathLst>
              <a:path w="2185988" h="147637">
                <a:moveTo>
                  <a:pt x="0" y="0"/>
                </a:moveTo>
                <a:lnTo>
                  <a:pt x="2185988" y="0"/>
                </a:lnTo>
                <a:lnTo>
                  <a:pt x="218598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3478975" y="2740045"/>
            <a:ext cx="218598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Workspace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478975" y="3031391"/>
            <a:ext cx="2185988" cy="266700"/>
          </a:xfrm>
          <a:custGeom>
            <a:avLst/>
            <a:gdLst/>
            <a:ahLst/>
            <a:cxnLst/>
            <a:rect l="l" t="t" r="r" b="b"/>
            <a:pathLst>
              <a:path w="2185988" h="266700">
                <a:moveTo>
                  <a:pt x="0" y="0"/>
                </a:moveTo>
                <a:lnTo>
                  <a:pt x="2185988" y="0"/>
                </a:lnTo>
                <a:lnTo>
                  <a:pt x="2185988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3478975" y="3031391"/>
            <a:ext cx="2185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522"/>
              </a:lnSpc>
              <a:spcBef>
                <a:spcPts val="281"/>
              </a:spcBef>
              <a:buNone/>
            </a:pPr>
            <a:r>
              <a:rPr lang="en-US" sz="1901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479778" y="4420076"/>
            <a:ext cx="1952625" cy="180975"/>
          </a:xfrm>
          <a:custGeom>
            <a:avLst/>
            <a:gdLst/>
            <a:ahLst/>
            <a:cxnLst/>
            <a:rect l="l" t="t" r="r" b="b"/>
            <a:pathLst>
              <a:path w="1952625" h="180975">
                <a:moveTo>
                  <a:pt x="0" y="0"/>
                </a:moveTo>
                <a:lnTo>
                  <a:pt x="1952625" y="0"/>
                </a:lnTo>
                <a:lnTo>
                  <a:pt x="195262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3479778" y="4420076"/>
            <a:ext cx="1952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Eclipse or IntelliJ for coding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082458" y="2005578"/>
            <a:ext cx="2605087" cy="2795588"/>
          </a:xfrm>
          <a:custGeom>
            <a:avLst/>
            <a:gdLst/>
            <a:ahLst/>
            <a:cxnLst/>
            <a:rect l="l" t="t" r="r" b="b"/>
            <a:pathLst>
              <a:path w="2605087" h="2795588">
                <a:moveTo>
                  <a:pt x="46813" y="0"/>
                </a:moveTo>
                <a:lnTo>
                  <a:pt x="2558274" y="0"/>
                </a:lnTo>
                <a:quadBezTo>
                  <a:pt x="2605087" y="0"/>
                  <a:pt x="2605087" y="46813"/>
                </a:quadBezTo>
                <a:lnTo>
                  <a:pt x="2605087" y="2748774"/>
                </a:lnTo>
                <a:quadBezTo>
                  <a:pt x="2605087" y="2795588"/>
                  <a:pt x="2558274" y="2795588"/>
                </a:quadBezTo>
                <a:lnTo>
                  <a:pt x="46813" y="2795588"/>
                </a:lnTo>
                <a:quadBezTo>
                  <a:pt x="0" y="2795588"/>
                  <a:pt x="0" y="2748774"/>
                </a:quadBezTo>
                <a:lnTo>
                  <a:pt x="0" y="46813"/>
                </a:lnTo>
                <a:quadBezTo>
                  <a:pt x="0" y="0"/>
                  <a:pt x="46813" y="0"/>
                </a:quadBezTo>
                <a:close/>
              </a:path>
            </a:pathLst>
          </a:custGeom>
          <a:solidFill>
            <a:srgbClr val="FFF6EE"/>
          </a:solidFill>
          <a:ln w="3786">
            <a:solidFill>
              <a:srgbClr val="F2DEC9"/>
            </a:solidFill>
            <a:prstDash val="solid"/>
          </a:ln>
          <a:effectLst>
            <a:outerShdw blurRad="142875" dist="66675" dir="2700000" algn="bl" rotWithShape="0">
              <a:srgbClr val="2E5E3A">
                <a:alpha val="7843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6296621" y="2238553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66175" y="0"/>
                </a:moveTo>
                <a:lnTo>
                  <a:pt x="295775" y="0"/>
                </a:lnTo>
                <a:quadBezTo>
                  <a:pt x="361950" y="0"/>
                  <a:pt x="361950" y="66175"/>
                </a:quadBezTo>
                <a:lnTo>
                  <a:pt x="361950" y="295775"/>
                </a:lnTo>
                <a:quadBezTo>
                  <a:pt x="361950" y="361950"/>
                  <a:pt x="295775" y="361950"/>
                </a:quadBezTo>
                <a:lnTo>
                  <a:pt x="66175" y="361950"/>
                </a:lnTo>
                <a:quadBezTo>
                  <a:pt x="0" y="361950"/>
                  <a:pt x="0" y="295775"/>
                </a:quadBezTo>
                <a:lnTo>
                  <a:pt x="0" y="66175"/>
                </a:lnTo>
                <a:quadBezTo>
                  <a:pt x="0" y="0"/>
                  <a:pt x="66175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108" y="2329042"/>
            <a:ext cx="180975" cy="180975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6296769" y="2743855"/>
            <a:ext cx="2176462" cy="147637"/>
          </a:xfrm>
          <a:custGeom>
            <a:avLst/>
            <a:gdLst/>
            <a:ahLst/>
            <a:cxnLst/>
            <a:rect l="l" t="t" r="r" b="b"/>
            <a:pathLst>
              <a:path w="2176462" h="147637">
                <a:moveTo>
                  <a:pt x="0" y="0"/>
                </a:moveTo>
                <a:lnTo>
                  <a:pt x="2176462" y="0"/>
                </a:lnTo>
                <a:lnTo>
                  <a:pt x="2176462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6296769" y="2743855"/>
            <a:ext cx="2176462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Runtime tools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296769" y="3035201"/>
            <a:ext cx="2176462" cy="266700"/>
          </a:xfrm>
          <a:custGeom>
            <a:avLst/>
            <a:gdLst/>
            <a:ahLst/>
            <a:cxnLst/>
            <a:rect l="l" t="t" r="r" b="b"/>
            <a:pathLst>
              <a:path w="2176462" h="266700">
                <a:moveTo>
                  <a:pt x="0" y="0"/>
                </a:moveTo>
                <a:lnTo>
                  <a:pt x="2176462" y="0"/>
                </a:lnTo>
                <a:lnTo>
                  <a:pt x="2176462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/>
          <p:nvPr/>
        </p:nvSpPr>
        <p:spPr>
          <a:xfrm>
            <a:off x="6296769" y="3035201"/>
            <a:ext cx="21764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522"/>
              </a:lnSpc>
              <a:spcBef>
                <a:spcPts val="281"/>
              </a:spcBef>
              <a:buNone/>
            </a:pPr>
            <a:r>
              <a:rPr lang="en-US" sz="1901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296621" y="4235768"/>
            <a:ext cx="2000250" cy="361950"/>
          </a:xfrm>
          <a:custGeom>
            <a:avLst/>
            <a:gdLst/>
            <a:ahLst/>
            <a:cxnLst/>
            <a:rect l="l" t="t" r="r" b="b"/>
            <a:pathLst>
              <a:path w="2000250" h="361950">
                <a:moveTo>
                  <a:pt x="0" y="0"/>
                </a:moveTo>
                <a:lnTo>
                  <a:pt x="2000250" y="0"/>
                </a:lnTo>
                <a:lnTo>
                  <a:pt x="2000250" y="361950"/>
                </a:lnTo>
                <a:lnTo>
                  <a:pt x="0" y="3619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1"/>
          <p:cNvSpPr/>
          <p:nvPr/>
        </p:nvSpPr>
        <p:spPr>
          <a:xfrm>
            <a:off x="6296621" y="4235768"/>
            <a:ext cx="200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Scanner input + Collections API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56456" y="370999"/>
            <a:ext cx="4776788" cy="138113"/>
          </a:xfrm>
          <a:custGeom>
            <a:avLst/>
            <a:gdLst/>
            <a:ahLst/>
            <a:cxnLst/>
            <a:rect l="l" t="t" r="r" b="b"/>
            <a:pathLst>
              <a:path w="4776788" h="138113">
                <a:moveTo>
                  <a:pt x="0" y="0"/>
                </a:moveTo>
                <a:lnTo>
                  <a:pt x="4776788" y="0"/>
                </a:lnTo>
                <a:lnTo>
                  <a:pt x="4776788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6456" y="370999"/>
            <a:ext cx="477678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7A9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6456" y="576351"/>
            <a:ext cx="4776788" cy="347663"/>
          </a:xfrm>
          <a:custGeom>
            <a:avLst/>
            <a:gdLst/>
            <a:ahLst/>
            <a:cxnLst/>
            <a:rect l="l" t="t" r="r" b="b"/>
            <a:pathLst>
              <a:path w="4776788" h="347663">
                <a:moveTo>
                  <a:pt x="0" y="0"/>
                </a:moveTo>
                <a:lnTo>
                  <a:pt x="4776788" y="0"/>
                </a:lnTo>
                <a:lnTo>
                  <a:pt x="4776788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6456" y="576351"/>
            <a:ext cx="4776788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 &amp; Learnings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6456" y="992207"/>
            <a:ext cx="4776788" cy="204787"/>
          </a:xfrm>
          <a:custGeom>
            <a:avLst/>
            <a:gdLst/>
            <a:ahLst/>
            <a:cxnLst/>
            <a:rect l="l" t="t" r="r" b="b"/>
            <a:pathLst>
              <a:path w="4776788" h="204787">
                <a:moveTo>
                  <a:pt x="0" y="0"/>
                </a:moveTo>
                <a:lnTo>
                  <a:pt x="4776788" y="0"/>
                </a:lnTo>
                <a:lnTo>
                  <a:pt x="4776788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6456" y="992207"/>
            <a:ext cx="4776788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build taught me about structure, data, and reliability.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267700" y="371475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62345" y="0"/>
                </a:moveTo>
                <a:lnTo>
                  <a:pt x="356755" y="0"/>
                </a:lnTo>
                <a:quadBezTo>
                  <a:pt x="419100" y="0"/>
                  <a:pt x="419100" y="62345"/>
                </a:quadBezTo>
                <a:lnTo>
                  <a:pt x="419100" y="356755"/>
                </a:lnTo>
                <a:quadBezTo>
                  <a:pt x="419100" y="419100"/>
                  <a:pt x="356755" y="419100"/>
                </a:quadBezTo>
                <a:lnTo>
                  <a:pt x="62345" y="419100"/>
                </a:lnTo>
                <a:quadBezTo>
                  <a:pt x="0" y="419100"/>
                  <a:pt x="0" y="356755"/>
                </a:quadBezTo>
                <a:lnTo>
                  <a:pt x="0" y="62345"/>
                </a:lnTo>
                <a:quadBezTo>
                  <a:pt x="0" y="0"/>
                  <a:pt x="62345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37" y="481012"/>
            <a:ext cx="200025" cy="20002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676" y="1520279"/>
            <a:ext cx="3519487" cy="3281363"/>
          </a:xfrm>
          <a:custGeom>
            <a:avLst/>
            <a:gdLst/>
            <a:ahLst/>
            <a:cxnLst/>
            <a:rect l="l" t="t" r="r" b="b"/>
            <a:pathLst>
              <a:path w="3519487" h="3281363">
                <a:moveTo>
                  <a:pt x="37145" y="0"/>
                </a:moveTo>
                <a:lnTo>
                  <a:pt x="3482342" y="0"/>
                </a:lnTo>
                <a:quadBezTo>
                  <a:pt x="3519487" y="0"/>
                  <a:pt x="3519487" y="37145"/>
                </a:quadBezTo>
                <a:lnTo>
                  <a:pt x="3519487" y="3244217"/>
                </a:lnTo>
                <a:quadBezTo>
                  <a:pt x="3519487" y="3281363"/>
                  <a:pt x="3482342" y="3281363"/>
                </a:quadBezTo>
                <a:lnTo>
                  <a:pt x="37145" y="3281363"/>
                </a:lnTo>
                <a:quadBezTo>
                  <a:pt x="0" y="3281363"/>
                  <a:pt x="0" y="3244217"/>
                </a:quadBezTo>
                <a:lnTo>
                  <a:pt x="0" y="37145"/>
                </a:lnTo>
                <a:quadBezTo>
                  <a:pt x="0" y="0"/>
                  <a:pt x="37145" y="0"/>
                </a:quadBezTo>
                <a:close/>
              </a:path>
            </a:pathLst>
          </a:custGeom>
          <a:solidFill>
            <a:srgbClr val="FF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695325" y="1749922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67732" y="0"/>
                </a:moveTo>
                <a:lnTo>
                  <a:pt x="189443" y="0"/>
                </a:lnTo>
                <a:quadBezTo>
                  <a:pt x="257175" y="0"/>
                  <a:pt x="257175" y="67732"/>
                </a:quadBezTo>
                <a:lnTo>
                  <a:pt x="257175" y="189443"/>
                </a:lnTo>
                <a:quadBezTo>
                  <a:pt x="257175" y="257175"/>
                  <a:pt x="189443" y="257175"/>
                </a:quadBezTo>
                <a:lnTo>
                  <a:pt x="67732" y="257175"/>
                </a:lnTo>
                <a:quadBezTo>
                  <a:pt x="0" y="257175"/>
                  <a:pt x="0" y="189443"/>
                </a:quadBezTo>
                <a:lnTo>
                  <a:pt x="0" y="67732"/>
                </a:lnTo>
                <a:quadBezTo>
                  <a:pt x="0" y="0"/>
                  <a:pt x="67732" y="0"/>
                </a:quadBezTo>
                <a:close/>
              </a:path>
            </a:pathLst>
          </a:custGeom>
          <a:solidFill>
            <a:srgbClr val="E98B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8" y="1811834"/>
            <a:ext cx="133350" cy="13335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038791" y="1773734"/>
            <a:ext cx="1052512" cy="209550"/>
          </a:xfrm>
          <a:custGeom>
            <a:avLst/>
            <a:gdLst/>
            <a:ahLst/>
            <a:cxnLst/>
            <a:rect l="l" t="t" r="r" b="b"/>
            <a:pathLst>
              <a:path w="1052512" h="209550">
                <a:moveTo>
                  <a:pt x="0" y="0"/>
                </a:moveTo>
                <a:lnTo>
                  <a:pt x="1052512" y="0"/>
                </a:lnTo>
                <a:lnTo>
                  <a:pt x="1052512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1038791" y="1773734"/>
            <a:ext cx="10525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2221409"/>
            <a:ext cx="128588" cy="12858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18091" y="2207122"/>
            <a:ext cx="1576388" cy="185738"/>
          </a:xfrm>
          <a:custGeom>
            <a:avLst/>
            <a:gdLst/>
            <a:ahLst/>
            <a:cxnLst/>
            <a:rect l="l" t="t" r="r" b="b"/>
            <a:pathLst>
              <a:path w="1576388" h="185738">
                <a:moveTo>
                  <a:pt x="0" y="0"/>
                </a:moveTo>
                <a:lnTo>
                  <a:pt x="1576388" y="0"/>
                </a:lnTo>
                <a:lnTo>
                  <a:pt x="1576388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4"/>
          <p:cNvSpPr/>
          <p:nvPr/>
        </p:nvSpPr>
        <p:spPr>
          <a:xfrm>
            <a:off x="918091" y="2207122"/>
            <a:ext cx="157638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Duplicate ingredients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2550022"/>
            <a:ext cx="128588" cy="12858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18567" y="2535734"/>
            <a:ext cx="909638" cy="185738"/>
          </a:xfrm>
          <a:custGeom>
            <a:avLst/>
            <a:gdLst/>
            <a:ahLst/>
            <a:cxnLst/>
            <a:rect l="l" t="t" r="r" b="b"/>
            <a:pathLst>
              <a:path w="909638" h="185738">
                <a:moveTo>
                  <a:pt x="0" y="0"/>
                </a:moveTo>
                <a:lnTo>
                  <a:pt x="909638" y="0"/>
                </a:lnTo>
                <a:lnTo>
                  <a:pt x="909638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/>
          <p:nvPr/>
        </p:nvSpPr>
        <p:spPr>
          <a:xfrm>
            <a:off x="918567" y="2535734"/>
            <a:ext cx="9096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Invalid input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2878634"/>
            <a:ext cx="128588" cy="12858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8389" y="2864347"/>
            <a:ext cx="881063" cy="185738"/>
          </a:xfrm>
          <a:custGeom>
            <a:avLst/>
            <a:gdLst/>
            <a:ahLst/>
            <a:cxnLst/>
            <a:rect l="l" t="t" r="r" b="b"/>
            <a:pathLst>
              <a:path w="881063" h="185738">
                <a:moveTo>
                  <a:pt x="0" y="0"/>
                </a:moveTo>
                <a:lnTo>
                  <a:pt x="881063" y="0"/>
                </a:lnTo>
                <a:lnTo>
                  <a:pt x="881063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8"/>
          <p:cNvSpPr/>
          <p:nvPr/>
        </p:nvSpPr>
        <p:spPr>
          <a:xfrm>
            <a:off x="918389" y="2864347"/>
            <a:ext cx="88106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Nested data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695801" y="4110514"/>
            <a:ext cx="3043238" cy="461962"/>
          </a:xfrm>
          <a:custGeom>
            <a:avLst/>
            <a:gdLst/>
            <a:ahLst/>
            <a:cxnLst/>
            <a:rect l="l" t="t" r="r" b="b"/>
            <a:pathLst>
              <a:path w="3043238" h="461962">
                <a:moveTo>
                  <a:pt x="0" y="0"/>
                </a:moveTo>
                <a:lnTo>
                  <a:pt x="3043238" y="0"/>
                </a:lnTo>
                <a:lnTo>
                  <a:pt x="3043238" y="461962"/>
                </a:lnTo>
                <a:lnTo>
                  <a:pt x="0" y="4619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0"/>
          <p:cNvSpPr/>
          <p:nvPr/>
        </p:nvSpPr>
        <p:spPr>
          <a:xfrm>
            <a:off x="695801" y="4110514"/>
            <a:ext cx="3043238" cy="461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7A62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edge case exposed a place where structure mattered.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205765" y="1520279"/>
            <a:ext cx="4481512" cy="3281363"/>
          </a:xfrm>
          <a:custGeom>
            <a:avLst/>
            <a:gdLst/>
            <a:ahLst/>
            <a:cxnLst/>
            <a:rect l="l" t="t" r="r" b="b"/>
            <a:pathLst>
              <a:path w="4481512" h="3281363">
                <a:moveTo>
                  <a:pt x="37145" y="0"/>
                </a:moveTo>
                <a:lnTo>
                  <a:pt x="4444367" y="0"/>
                </a:lnTo>
                <a:quadBezTo>
                  <a:pt x="4481512" y="0"/>
                  <a:pt x="4481512" y="37145"/>
                </a:quadBezTo>
                <a:lnTo>
                  <a:pt x="4481512" y="3244217"/>
                </a:lnTo>
                <a:quadBezTo>
                  <a:pt x="4481512" y="3281363"/>
                  <a:pt x="4444367" y="3281363"/>
                </a:quadBezTo>
                <a:lnTo>
                  <a:pt x="37145" y="3281363"/>
                </a:lnTo>
                <a:quadBezTo>
                  <a:pt x="0" y="3281363"/>
                  <a:pt x="0" y="3244217"/>
                </a:quadBezTo>
                <a:lnTo>
                  <a:pt x="0" y="37145"/>
                </a:lnTo>
                <a:quadBezTo>
                  <a:pt x="0" y="0"/>
                  <a:pt x="37145" y="0"/>
                </a:quadBezTo>
                <a:close/>
              </a:path>
            </a:pathLst>
          </a:custGeom>
          <a:solidFill>
            <a:srgbClr val="F7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4444366" y="1749922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67732" y="0"/>
                </a:moveTo>
                <a:lnTo>
                  <a:pt x="189443" y="0"/>
                </a:lnTo>
                <a:quadBezTo>
                  <a:pt x="257175" y="0"/>
                  <a:pt x="257175" y="67732"/>
                </a:quadBezTo>
                <a:lnTo>
                  <a:pt x="257175" y="189443"/>
                </a:lnTo>
                <a:quadBezTo>
                  <a:pt x="257175" y="257175"/>
                  <a:pt x="189443" y="257175"/>
                </a:quadBezTo>
                <a:lnTo>
                  <a:pt x="67732" y="257175"/>
                </a:lnTo>
                <a:quadBezTo>
                  <a:pt x="0" y="257175"/>
                  <a:pt x="0" y="189443"/>
                </a:quadBezTo>
                <a:lnTo>
                  <a:pt x="0" y="67732"/>
                </a:lnTo>
                <a:quadBezTo>
                  <a:pt x="0" y="0"/>
                  <a:pt x="67732" y="0"/>
                </a:quadBezTo>
                <a:close/>
              </a:path>
            </a:pathLst>
          </a:custGeom>
          <a:solidFill>
            <a:srgbClr val="2E5E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898" y="1809452"/>
            <a:ext cx="138113" cy="138113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786790" y="1773734"/>
            <a:ext cx="938212" cy="209550"/>
          </a:xfrm>
          <a:custGeom>
            <a:avLst/>
            <a:gdLst/>
            <a:ahLst/>
            <a:cxnLst/>
            <a:rect l="l" t="t" r="r" b="b"/>
            <a:pathLst>
              <a:path w="938212" h="209550">
                <a:moveTo>
                  <a:pt x="0" y="0"/>
                </a:moveTo>
                <a:lnTo>
                  <a:pt x="938212" y="0"/>
                </a:lnTo>
                <a:lnTo>
                  <a:pt x="938212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4"/>
          <p:cNvSpPr/>
          <p:nvPr/>
        </p:nvSpPr>
        <p:spPr>
          <a:xfrm>
            <a:off x="4786790" y="1773734"/>
            <a:ext cx="9382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Learnings</a:t>
            </a:r>
            <a:endParaRPr lang="en-US" sz="9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4366" y="2221409"/>
            <a:ext cx="138113" cy="138113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4677520" y="2207122"/>
            <a:ext cx="2952750" cy="185738"/>
          </a:xfrm>
          <a:custGeom>
            <a:avLst/>
            <a:gdLst/>
            <a:ahLst/>
            <a:cxnLst/>
            <a:rect l="l" t="t" r="r" b="b"/>
            <a:pathLst>
              <a:path w="2952750" h="185738">
                <a:moveTo>
                  <a:pt x="0" y="0"/>
                </a:moveTo>
                <a:lnTo>
                  <a:pt x="2952750" y="0"/>
                </a:lnTo>
                <a:lnTo>
                  <a:pt x="2952750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6"/>
          <p:cNvSpPr/>
          <p:nvPr/>
        </p:nvSpPr>
        <p:spPr>
          <a:xfrm>
            <a:off x="4677520" y="2207122"/>
            <a:ext cx="29527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 OOP structure and class design</a:t>
            </a:r>
            <a:endParaRPr lang="en-US" sz="9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4366" y="2550022"/>
            <a:ext cx="138113" cy="138113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4677609" y="2535734"/>
            <a:ext cx="2990850" cy="185738"/>
          </a:xfrm>
          <a:custGeom>
            <a:avLst/>
            <a:gdLst/>
            <a:ahLst/>
            <a:cxnLst/>
            <a:rect l="l" t="t" r="r" b="b"/>
            <a:pathLst>
              <a:path w="2990850" h="185738">
                <a:moveTo>
                  <a:pt x="0" y="0"/>
                </a:moveTo>
                <a:lnTo>
                  <a:pt x="2990850" y="0"/>
                </a:lnTo>
                <a:lnTo>
                  <a:pt x="2990850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28"/>
          <p:cNvSpPr/>
          <p:nvPr/>
        </p:nvSpPr>
        <p:spPr>
          <a:xfrm>
            <a:off x="4677609" y="2535734"/>
            <a:ext cx="29908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ArrayList and HashMap working together</a:t>
            </a:r>
            <a:endParaRPr lang="en-US" sz="9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4366" y="2878634"/>
            <a:ext cx="138113" cy="138113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4676985" y="2864347"/>
            <a:ext cx="2347912" cy="185738"/>
          </a:xfrm>
          <a:custGeom>
            <a:avLst/>
            <a:gdLst/>
            <a:ahLst/>
            <a:cxnLst/>
            <a:rect l="l" t="t" r="r" b="b"/>
            <a:pathLst>
              <a:path w="2347912" h="185738">
                <a:moveTo>
                  <a:pt x="0" y="0"/>
                </a:moveTo>
                <a:lnTo>
                  <a:pt x="2347912" y="0"/>
                </a:lnTo>
                <a:lnTo>
                  <a:pt x="2347912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0"/>
          <p:cNvSpPr/>
          <p:nvPr/>
        </p:nvSpPr>
        <p:spPr>
          <a:xfrm>
            <a:off x="4676985" y="2864347"/>
            <a:ext cx="234791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Reading and writing files in Java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4443890" y="4181951"/>
            <a:ext cx="4005262" cy="390525"/>
          </a:xfrm>
          <a:custGeom>
            <a:avLst/>
            <a:gdLst/>
            <a:ahLst/>
            <a:cxnLst/>
            <a:rect l="l" t="t" r="r" b="b"/>
            <a:pathLst>
              <a:path w="4005262" h="390525">
                <a:moveTo>
                  <a:pt x="50179" y="0"/>
                </a:moveTo>
                <a:lnTo>
                  <a:pt x="3955084" y="0"/>
                </a:lnTo>
                <a:quadBezTo>
                  <a:pt x="4005262" y="0"/>
                  <a:pt x="4005262" y="50179"/>
                </a:quadBezTo>
                <a:lnTo>
                  <a:pt x="4005262" y="340346"/>
                </a:lnTo>
                <a:quadBezTo>
                  <a:pt x="4005262" y="390525"/>
                  <a:pt x="3955084" y="390525"/>
                </a:quadBezTo>
                <a:lnTo>
                  <a:pt x="50179" y="390525"/>
                </a:lnTo>
                <a:quadBezTo>
                  <a:pt x="0" y="390525"/>
                  <a:pt x="0" y="340346"/>
                </a:quadBezTo>
                <a:lnTo>
                  <a:pt x="0" y="50179"/>
                </a:lnTo>
                <a:quadBezTo>
                  <a:pt x="0" y="0"/>
                  <a:pt x="50179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2"/>
          <p:cNvSpPr/>
          <p:nvPr/>
        </p:nvSpPr>
        <p:spPr>
          <a:xfrm>
            <a:off x="4443890" y="4181951"/>
            <a:ext cx="400526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E5E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structure makes future changes easier to manage.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57200" y="370999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7200" y="370999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7A9B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85788"/>
            <a:ext cx="8229600" cy="338137"/>
          </a:xfrm>
          <a:custGeom>
            <a:avLst/>
            <a:gdLst/>
            <a:ahLst/>
            <a:cxnLst/>
            <a:rect l="l" t="t" r="r" b="b"/>
            <a:pathLst>
              <a:path w="8229600" h="338137">
                <a:moveTo>
                  <a:pt x="0" y="0"/>
                </a:moveTo>
                <a:lnTo>
                  <a:pt x="8229600" y="0"/>
                </a:lnTo>
                <a:lnTo>
                  <a:pt x="8229600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585788"/>
            <a:ext cx="8229600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02030"/>
            <a:ext cx="5000625" cy="409575"/>
          </a:xfrm>
          <a:custGeom>
            <a:avLst/>
            <a:gdLst/>
            <a:ahLst/>
            <a:cxnLst/>
            <a:rect l="l" t="t" r="r" b="b"/>
            <a:pathLst>
              <a:path w="5000625" h="409575">
                <a:moveTo>
                  <a:pt x="0" y="0"/>
                </a:moveTo>
                <a:lnTo>
                  <a:pt x="5000625" y="0"/>
                </a:lnTo>
                <a:lnTo>
                  <a:pt x="5000625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1002030"/>
            <a:ext cx="50006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practical next step: make meal planning smarter, richer, and easier to share.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081" y="1956435"/>
            <a:ext cx="3424238" cy="2843213"/>
          </a:xfrm>
          <a:custGeom>
            <a:avLst/>
            <a:gdLst/>
            <a:ahLst/>
            <a:cxnLst/>
            <a:rect l="l" t="t" r="r" b="b"/>
            <a:pathLst>
              <a:path w="3424238" h="2843213">
                <a:moveTo>
                  <a:pt x="49017" y="0"/>
                </a:moveTo>
                <a:lnTo>
                  <a:pt x="3375221" y="0"/>
                </a:lnTo>
                <a:quadBezTo>
                  <a:pt x="3424238" y="0"/>
                  <a:pt x="3424238" y="49017"/>
                </a:quadBezTo>
                <a:lnTo>
                  <a:pt x="3424238" y="2794196"/>
                </a:lnTo>
                <a:quadBezTo>
                  <a:pt x="3424238" y="2843213"/>
                  <a:pt x="3375221" y="2843213"/>
                </a:quadBezTo>
                <a:lnTo>
                  <a:pt x="49017" y="2843213"/>
                </a:lnTo>
                <a:quadBezTo>
                  <a:pt x="0" y="2843213"/>
                  <a:pt x="0" y="2794196"/>
                </a:quadBezTo>
                <a:lnTo>
                  <a:pt x="0" y="49017"/>
                </a:lnTo>
                <a:quadBezTo>
                  <a:pt x="0" y="0"/>
                  <a:pt x="49017" y="0"/>
                </a:quadBezTo>
                <a:close/>
              </a:path>
            </a:pathLst>
          </a:custGeom>
          <a:solidFill>
            <a:srgbClr val="2E5E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23900" y="222218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28599" y="0"/>
                </a:moveTo>
                <a:lnTo>
                  <a:pt x="304801" y="0"/>
                </a:lnTo>
                <a:quadBezTo>
                  <a:pt x="533400" y="0"/>
                  <a:pt x="533400" y="228599"/>
                </a:quadBezTo>
                <a:lnTo>
                  <a:pt x="533400" y="304801"/>
                </a:lnTo>
                <a:quadBezTo>
                  <a:pt x="533400" y="533400"/>
                  <a:pt x="304801" y="533400"/>
                </a:quadBezTo>
                <a:lnTo>
                  <a:pt x="228599" y="533400"/>
                </a:lnTo>
                <a:quadBezTo>
                  <a:pt x="0" y="533400"/>
                  <a:pt x="0" y="304801"/>
                </a:quadBezTo>
                <a:lnTo>
                  <a:pt x="0" y="228599"/>
                </a:lnTo>
                <a:quadBezTo>
                  <a:pt x="0" y="0"/>
                  <a:pt x="228599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8" y="2350770"/>
            <a:ext cx="276225" cy="2762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23781" y="2862501"/>
            <a:ext cx="2890837" cy="138113"/>
          </a:xfrm>
          <a:custGeom>
            <a:avLst/>
            <a:gdLst/>
            <a:ahLst/>
            <a:cxnLst/>
            <a:rect l="l" t="t" r="r" b="b"/>
            <a:pathLst>
              <a:path w="2890837" h="138113">
                <a:moveTo>
                  <a:pt x="0" y="0"/>
                </a:moveTo>
                <a:lnTo>
                  <a:pt x="2890837" y="0"/>
                </a:lnTo>
                <a:lnTo>
                  <a:pt x="2890837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23781" y="2862501"/>
            <a:ext cx="289083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C9D6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HORIZON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23781" y="3086934"/>
            <a:ext cx="2890837" cy="800100"/>
          </a:xfrm>
          <a:custGeom>
            <a:avLst/>
            <a:gdLst/>
            <a:ahLst/>
            <a:cxnLst/>
            <a:rect l="l" t="t" r="r" b="b"/>
            <a:pathLst>
              <a:path w="2890837" h="800100">
                <a:moveTo>
                  <a:pt x="0" y="0"/>
                </a:moveTo>
                <a:lnTo>
                  <a:pt x="2890837" y="0"/>
                </a:lnTo>
                <a:lnTo>
                  <a:pt x="2890837" y="800100"/>
                </a:lnTo>
                <a:lnTo>
                  <a:pt x="0" y="8001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723781" y="3086934"/>
            <a:ext cx="289083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lang="en-US" sz="19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a useful planner</a:t>
            </a:r>
            <a:endParaRPr lang="en-US" sz="900" dirty="0"/>
          </a:p>
          <a:p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lang="en-US" sz="19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a complete kitchen tool.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23781" y="3972878"/>
            <a:ext cx="2890837" cy="561975"/>
          </a:xfrm>
          <a:custGeom>
            <a:avLst/>
            <a:gdLst/>
            <a:ahLst/>
            <a:cxnLst/>
            <a:rect l="l" t="t" r="r" b="b"/>
            <a:pathLst>
              <a:path w="2890837" h="561975">
                <a:moveTo>
                  <a:pt x="0" y="0"/>
                </a:moveTo>
                <a:lnTo>
                  <a:pt x="2890837" y="0"/>
                </a:lnTo>
                <a:lnTo>
                  <a:pt x="2890837" y="561975"/>
                </a:lnTo>
                <a:lnTo>
                  <a:pt x="0" y="561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23781" y="3972878"/>
            <a:ext cx="289083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826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EAF3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intelligence behind every plan, with a smoother experience from idea to grocery bag.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148019" y="1956584"/>
            <a:ext cx="4538662" cy="857250"/>
          </a:xfrm>
          <a:custGeom>
            <a:avLst/>
            <a:gdLst/>
            <a:ahLst/>
            <a:cxnLst/>
            <a:rect l="l" t="t" r="r" b="b"/>
            <a:pathLst>
              <a:path w="4538662" h="857250">
                <a:moveTo>
                  <a:pt x="142243" y="0"/>
                </a:moveTo>
                <a:lnTo>
                  <a:pt x="4396419" y="0"/>
                </a:lnTo>
                <a:quadBezTo>
                  <a:pt x="4538662" y="0"/>
                  <a:pt x="4538662" y="142243"/>
                </a:quadBezTo>
                <a:lnTo>
                  <a:pt x="4538662" y="715007"/>
                </a:lnTo>
                <a:quadBezTo>
                  <a:pt x="4538662" y="857250"/>
                  <a:pt x="4396419" y="857250"/>
                </a:quadBezTo>
                <a:lnTo>
                  <a:pt x="142243" y="857250"/>
                </a:lnTo>
                <a:quadBezTo>
                  <a:pt x="0" y="857250"/>
                  <a:pt x="0" y="715007"/>
                </a:quadBezTo>
                <a:lnTo>
                  <a:pt x="0" y="142243"/>
                </a:lnTo>
                <a:quadBezTo>
                  <a:pt x="0" y="0"/>
                  <a:pt x="142243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4347925" y="2223254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7234" y="0"/>
                </a:moveTo>
                <a:lnTo>
                  <a:pt x="256616" y="0"/>
                </a:lnTo>
                <a:quadBezTo>
                  <a:pt x="323850" y="0"/>
                  <a:pt x="323850" y="67234"/>
                </a:quadBezTo>
                <a:lnTo>
                  <a:pt x="323850" y="256616"/>
                </a:lnTo>
                <a:quadBezTo>
                  <a:pt x="323850" y="323850"/>
                  <a:pt x="256616" y="323850"/>
                </a:quadBezTo>
                <a:lnTo>
                  <a:pt x="67234" y="323850"/>
                </a:lnTo>
                <a:quadBezTo>
                  <a:pt x="0" y="323850"/>
                  <a:pt x="0" y="256616"/>
                </a:quadBezTo>
                <a:lnTo>
                  <a:pt x="0" y="67234"/>
                </a:lnTo>
                <a:quadBezTo>
                  <a:pt x="0" y="0"/>
                  <a:pt x="67234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888" y="2304217"/>
            <a:ext cx="161925" cy="16192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806166" y="2200632"/>
            <a:ext cx="1919287" cy="176212"/>
          </a:xfrm>
          <a:custGeom>
            <a:avLst/>
            <a:gdLst/>
            <a:ahLst/>
            <a:cxnLst/>
            <a:rect l="l" t="t" r="r" b="b"/>
            <a:pathLst>
              <a:path w="1919287" h="176212">
                <a:moveTo>
                  <a:pt x="0" y="0"/>
                </a:moveTo>
                <a:lnTo>
                  <a:pt x="1919287" y="0"/>
                </a:lnTo>
                <a:lnTo>
                  <a:pt x="1919287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4806166" y="2200632"/>
            <a:ext cx="1919287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friendlier interface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806166" y="2413278"/>
            <a:ext cx="1919287" cy="157163"/>
          </a:xfrm>
          <a:custGeom>
            <a:avLst/>
            <a:gdLst/>
            <a:ahLst/>
            <a:cxnLst/>
            <a:rect l="l" t="t" r="r" b="b"/>
            <a:pathLst>
              <a:path w="1919287" h="157163">
                <a:moveTo>
                  <a:pt x="0" y="0"/>
                </a:moveTo>
                <a:lnTo>
                  <a:pt x="1919287" y="0"/>
                </a:lnTo>
                <a:lnTo>
                  <a:pt x="1919287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4806166" y="2413278"/>
            <a:ext cx="191928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a GUI with JavaFX or Swing.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148019" y="2949416"/>
            <a:ext cx="4538662" cy="857250"/>
          </a:xfrm>
          <a:custGeom>
            <a:avLst/>
            <a:gdLst/>
            <a:ahLst/>
            <a:cxnLst/>
            <a:rect l="l" t="t" r="r" b="b"/>
            <a:pathLst>
              <a:path w="4538662" h="857250">
                <a:moveTo>
                  <a:pt x="142243" y="0"/>
                </a:moveTo>
                <a:lnTo>
                  <a:pt x="4396419" y="0"/>
                </a:lnTo>
                <a:quadBezTo>
                  <a:pt x="4538662" y="0"/>
                  <a:pt x="4538662" y="142243"/>
                </a:quadBezTo>
                <a:lnTo>
                  <a:pt x="4538662" y="715007"/>
                </a:lnTo>
                <a:quadBezTo>
                  <a:pt x="4538662" y="857250"/>
                  <a:pt x="4396419" y="857250"/>
                </a:quadBezTo>
                <a:lnTo>
                  <a:pt x="142243" y="857250"/>
                </a:lnTo>
                <a:quadBezTo>
                  <a:pt x="0" y="857250"/>
                  <a:pt x="0" y="715007"/>
                </a:quadBezTo>
                <a:lnTo>
                  <a:pt x="0" y="142243"/>
                </a:lnTo>
                <a:quadBezTo>
                  <a:pt x="0" y="0"/>
                  <a:pt x="142243" y="0"/>
                </a:quad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4347925" y="3216116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7234" y="0"/>
                </a:moveTo>
                <a:lnTo>
                  <a:pt x="256616" y="0"/>
                </a:lnTo>
                <a:quadBezTo>
                  <a:pt x="323850" y="0"/>
                  <a:pt x="323850" y="67234"/>
                </a:quadBezTo>
                <a:lnTo>
                  <a:pt x="323850" y="256616"/>
                </a:lnTo>
                <a:quadBezTo>
                  <a:pt x="323850" y="323850"/>
                  <a:pt x="256616" y="323850"/>
                </a:quadBezTo>
                <a:lnTo>
                  <a:pt x="67234" y="323850"/>
                </a:lnTo>
                <a:quadBezTo>
                  <a:pt x="0" y="323850"/>
                  <a:pt x="0" y="256616"/>
                </a:quadBezTo>
                <a:lnTo>
                  <a:pt x="0" y="67234"/>
                </a:lnTo>
                <a:quadBezTo>
                  <a:pt x="0" y="0"/>
                  <a:pt x="67234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8888" y="3297079"/>
            <a:ext cx="161925" cy="16192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4806108" y="3193494"/>
            <a:ext cx="1762125" cy="176212"/>
          </a:xfrm>
          <a:custGeom>
            <a:avLst/>
            <a:gdLst/>
            <a:ahLst/>
            <a:cxnLst/>
            <a:rect l="l" t="t" r="r" b="b"/>
            <a:pathLst>
              <a:path w="1762125" h="176212">
                <a:moveTo>
                  <a:pt x="0" y="0"/>
                </a:moveTo>
                <a:lnTo>
                  <a:pt x="1762125" y="0"/>
                </a:lnTo>
                <a:lnTo>
                  <a:pt x="1762125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4806108" y="3193494"/>
            <a:ext cx="1762125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Plans that persist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806108" y="3406140"/>
            <a:ext cx="1762125" cy="157163"/>
          </a:xfrm>
          <a:custGeom>
            <a:avLst/>
            <a:gdLst/>
            <a:ahLst/>
            <a:cxnLst/>
            <a:rect l="l" t="t" r="r" b="b"/>
            <a:pathLst>
              <a:path w="1762125" h="157163">
                <a:moveTo>
                  <a:pt x="0" y="0"/>
                </a:moveTo>
                <a:lnTo>
                  <a:pt x="1762125" y="0"/>
                </a:lnTo>
                <a:lnTo>
                  <a:pt x="1762125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4806108" y="3406140"/>
            <a:ext cx="17621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Store plans in a real database.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4148019" y="3942249"/>
            <a:ext cx="4538662" cy="857250"/>
          </a:xfrm>
          <a:custGeom>
            <a:avLst/>
            <a:gdLst/>
            <a:ahLst/>
            <a:cxnLst/>
            <a:rect l="l" t="t" r="r" b="b"/>
            <a:pathLst>
              <a:path w="4538662" h="857250">
                <a:moveTo>
                  <a:pt x="142243" y="0"/>
                </a:moveTo>
                <a:lnTo>
                  <a:pt x="4396419" y="0"/>
                </a:lnTo>
                <a:quadBezTo>
                  <a:pt x="4538662" y="0"/>
                  <a:pt x="4538662" y="142243"/>
                </a:quadBezTo>
                <a:lnTo>
                  <a:pt x="4538662" y="715007"/>
                </a:lnTo>
                <a:quadBezTo>
                  <a:pt x="4538662" y="857250"/>
                  <a:pt x="4396419" y="857250"/>
                </a:quadBezTo>
                <a:lnTo>
                  <a:pt x="142243" y="857250"/>
                </a:lnTo>
                <a:quadBezTo>
                  <a:pt x="0" y="857250"/>
                  <a:pt x="0" y="715007"/>
                </a:quadBezTo>
                <a:lnTo>
                  <a:pt x="0" y="142243"/>
                </a:lnTo>
                <a:quadBezTo>
                  <a:pt x="0" y="0"/>
                  <a:pt x="142243" y="0"/>
                </a:quadBezTo>
                <a:close/>
              </a:path>
            </a:pathLst>
          </a:custGeom>
          <a:solidFill>
            <a:srgbClr val="FFF6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9"/>
          <p:cNvSpPr/>
          <p:nvPr/>
        </p:nvSpPr>
        <p:spPr>
          <a:xfrm>
            <a:off x="4347925" y="4208918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7234" y="0"/>
                </a:moveTo>
                <a:lnTo>
                  <a:pt x="256616" y="0"/>
                </a:lnTo>
                <a:quadBezTo>
                  <a:pt x="323850" y="0"/>
                  <a:pt x="323850" y="67234"/>
                </a:quadBezTo>
                <a:lnTo>
                  <a:pt x="323850" y="256616"/>
                </a:lnTo>
                <a:quadBezTo>
                  <a:pt x="323850" y="323850"/>
                  <a:pt x="256616" y="323850"/>
                </a:quadBezTo>
                <a:lnTo>
                  <a:pt x="67234" y="323850"/>
                </a:lnTo>
                <a:quadBezTo>
                  <a:pt x="0" y="323850"/>
                  <a:pt x="0" y="256616"/>
                </a:quadBezTo>
                <a:lnTo>
                  <a:pt x="0" y="67234"/>
                </a:lnTo>
                <a:quadBezTo>
                  <a:pt x="0" y="0"/>
                  <a:pt x="67234" y="0"/>
                </a:quadBezTo>
                <a:close/>
              </a:path>
            </a:pathLst>
          </a:custGeom>
          <a:solidFill>
            <a:srgbClr val="E98B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8888" y="4289882"/>
            <a:ext cx="161925" cy="161925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4805603" y="4186297"/>
            <a:ext cx="3962400" cy="176212"/>
          </a:xfrm>
          <a:custGeom>
            <a:avLst/>
            <a:gdLst/>
            <a:ahLst/>
            <a:cxnLst/>
            <a:rect l="l" t="t" r="r" b="b"/>
            <a:pathLst>
              <a:path w="3962400" h="176212">
                <a:moveTo>
                  <a:pt x="0" y="0"/>
                </a:moveTo>
                <a:lnTo>
                  <a:pt x="3962400" y="0"/>
                </a:lnTo>
                <a:lnTo>
                  <a:pt x="3962400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1"/>
          <p:cNvSpPr/>
          <p:nvPr/>
        </p:nvSpPr>
        <p:spPr>
          <a:xfrm>
            <a:off x="4805603" y="4186297"/>
            <a:ext cx="396240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useful output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805603" y="4398943"/>
            <a:ext cx="3962400" cy="157163"/>
          </a:xfrm>
          <a:custGeom>
            <a:avLst/>
            <a:gdLst/>
            <a:ahLst/>
            <a:cxnLst/>
            <a:rect l="l" t="t" r="r" b="b"/>
            <a:pathLst>
              <a:path w="3962400" h="157163">
                <a:moveTo>
                  <a:pt x="0" y="0"/>
                </a:moveTo>
                <a:lnTo>
                  <a:pt x="3962400" y="0"/>
                </a:lnTo>
                <a:lnTo>
                  <a:pt x="39624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3"/>
          <p:cNvSpPr/>
          <p:nvPr/>
        </p:nvSpPr>
        <p:spPr>
          <a:xfrm>
            <a:off x="4805603" y="4398943"/>
            <a:ext cx="39624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B4A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nutrition and calorie information, plus PDF grocery-list export.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3908121" y="769479"/>
            <a:ext cx="1162933" cy="1002767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cubicBezTo>
                  <a:pt x="0" y="413994"/>
                  <a:pt x="119406" y="533400"/>
                  <a:pt x="266700" y="533400"/>
                </a:cubicBezTo>
                <a:cubicBezTo>
                  <a:pt x="413994" y="533400"/>
                  <a:pt x="533400" y="413994"/>
                  <a:pt x="533400" y="266700"/>
                </a:cubicBezTo>
                <a:cubicBezTo>
                  <a:pt x="533400" y="119406"/>
                  <a:pt x="413994" y="0"/>
                  <a:pt x="266700" y="0"/>
                </a:cubicBezTo>
                <a:cubicBezTo>
                  <a:pt x="119406" y="0"/>
                  <a:pt x="0" y="119406"/>
                  <a:pt x="0" y="266700"/>
                </a:cubicBezTo>
                <a:close/>
              </a:path>
            </a:pathLst>
          </a:custGeom>
          <a:solidFill>
            <a:srgbClr val="EAF3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422" y="999698"/>
            <a:ext cx="542330" cy="54233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24263" y="1772246"/>
            <a:ext cx="1895475" cy="371475"/>
          </a:xfrm>
          <a:custGeom>
            <a:avLst/>
            <a:gdLst/>
            <a:ahLst/>
            <a:cxnLst/>
            <a:rect l="l" t="t" r="r" b="b"/>
            <a:pathLst>
              <a:path w="1895475" h="371475">
                <a:moveTo>
                  <a:pt x="0" y="0"/>
                </a:moveTo>
                <a:lnTo>
                  <a:pt x="1895475" y="0"/>
                </a:lnTo>
                <a:lnTo>
                  <a:pt x="1895475" y="371475"/>
                </a:lnTo>
                <a:lnTo>
                  <a:pt x="0" y="3714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3624263" y="2019826"/>
            <a:ext cx="1895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700" b="1" dirty="0">
                <a:solidFill>
                  <a:srgbClr val="1F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015703" y="3161040"/>
            <a:ext cx="1784837" cy="45719"/>
          </a:xfrm>
          <a:custGeom>
            <a:avLst/>
            <a:gdLst/>
            <a:ahLst/>
            <a:cxnLst/>
            <a:rect l="l" t="t" r="r" b="b"/>
            <a:pathLst>
              <a:path w="457200" h="28575">
                <a:moveTo>
                  <a:pt x="25400" y="0"/>
                </a:moveTo>
                <a:lnTo>
                  <a:pt x="787400" y="0"/>
                </a:lnTo>
                <a:quadBezTo>
                  <a:pt x="812800" y="0"/>
                  <a:pt x="812800" y="25400"/>
                </a:quadBezTo>
                <a:lnTo>
                  <a:pt x="812800" y="25400"/>
                </a:lnTo>
                <a:quadBezTo>
                  <a:pt x="812800" y="50800"/>
                  <a:pt x="787400" y="50800"/>
                </a:quadBezTo>
                <a:lnTo>
                  <a:pt x="25400" y="50800"/>
                </a:lnTo>
                <a:quadBezTo>
                  <a:pt x="0" y="50800"/>
                  <a:pt x="0" y="25400"/>
                </a:quadBezTo>
                <a:lnTo>
                  <a:pt x="0" y="25400"/>
                </a:lnTo>
                <a:quadBezTo>
                  <a:pt x="0" y="0"/>
                  <a:pt x="25400" y="0"/>
                </a:quadBezTo>
                <a:close/>
              </a:path>
            </a:pathLst>
          </a:custGeom>
          <a:solidFill>
            <a:srgbClr val="E98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3431349" y="2903934"/>
            <a:ext cx="2281238" cy="195263"/>
          </a:xfrm>
          <a:custGeom>
            <a:avLst/>
            <a:gdLst/>
            <a:ahLst/>
            <a:cxnLst/>
            <a:rect l="l" t="t" r="r" b="b"/>
            <a:pathLst>
              <a:path w="2281238" h="195263">
                <a:moveTo>
                  <a:pt x="0" y="0"/>
                </a:moveTo>
                <a:lnTo>
                  <a:pt x="2281238" y="0"/>
                </a:lnTo>
                <a:lnTo>
                  <a:pt x="2281238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3431349" y="2903934"/>
            <a:ext cx="228123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spcBef>
                <a:spcPts val="281"/>
              </a:spcBef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891</Words>
  <Application>Microsoft Office PowerPoint</Application>
  <PresentationFormat>On-screen Show (16:9)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Inconsolata</vt:lpstr>
      <vt:lpstr>monospace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Varsha S K</cp:lastModifiedBy>
  <cp:revision>2</cp:revision>
  <dcterms:created xsi:type="dcterms:W3CDTF">2026-09-11T04:12:25Z</dcterms:created>
  <dcterms:modified xsi:type="dcterms:W3CDTF">2026-09-11T04:19:32Z</dcterms:modified>
</cp:coreProperties>
</file>